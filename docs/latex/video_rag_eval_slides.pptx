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transnetv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iagram_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iagram_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iagram_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iagram_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iagram_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iagram_6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iagram_7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iagram_8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iagram_9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438912" y="21945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000" b="1">
                <a:solidFill>
                  <a:srgbClr val="0F9E90"/>
                </a:solidFill>
                <a:latin typeface="Aptos"/>
              </a:rPr>
              <a:t>MỞ ĐẦU</a:t>
            </a:r>
            <a:endParaRPr lang="vi-VN"/>
          </a:p>
        </p:txBody>
      </p:sp>
      <p:sp>
        <p:nvSpPr>
          <p:cNvPr id="5" name="Text 5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2800" b="1">
                <a:solidFill>
                  <a:srgbClr val="17233B"/>
                </a:solidFill>
                <a:latin typeface="Aptos"/>
              </a:rPr>
              <a:t>Video RAG đa phương thức</a:t>
            </a:r>
            <a:endParaRPr lang="vi-VN"/>
          </a:p>
        </p:txBody>
      </p:sp>
      <p:sp>
        <p:nvSpPr>
          <p:cNvPr id="6" name="Shape 6"/>
          <p:cNvSpPr/>
          <p:nvPr/>
        </p:nvSpPr>
        <p:spPr>
          <a:xfrm>
            <a:off x="438912" y="1161288"/>
            <a:ext cx="11292840" cy="13716"/>
          </a:xfrm>
          <a:prstGeom prst="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448056" y="6574536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800">
                <a:solidFill>
                  <a:srgbClr val="596579"/>
                </a:solidFill>
                <a:latin typeface="Aptos"/>
              </a:rPr>
              <a:t>VIDEO RAG  /  AIC 2025</a:t>
            </a:r>
            <a:endParaRPr lang="vi-VN"/>
          </a:p>
        </p:txBody>
      </p:sp>
      <p:sp>
        <p:nvSpPr>
          <p:cNvPr id="8" name="Text 8"/>
          <p:cNvSpPr txBox="1"/>
          <p:nvPr/>
        </p:nvSpPr>
        <p:spPr>
          <a:xfrm>
            <a:off x="11119104" y="652881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000">
                <a:solidFill>
                  <a:srgbClr val="596579"/>
                </a:solidFill>
                <a:latin typeface="Aptos"/>
              </a:rPr>
              <a:t>01</a:t>
            </a:r>
            <a:endParaRPr lang="vi-VN"/>
          </a:p>
        </p:txBody>
      </p:sp>
      <p:sp>
        <p:nvSpPr>
          <p:cNvPr id="9" name="Text 9"/>
          <p:cNvSpPr txBox="1"/>
          <p:nvPr/>
        </p:nvSpPr>
        <p:spPr>
          <a:xfrm>
            <a:off x="502920" y="1527048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2900" b="1">
                <a:solidFill>
                  <a:srgbClr val="17233B"/>
                </a:solidFill>
                <a:latin typeface="Aptos"/>
              </a:rPr>
              <a:t>Truy hồi khoảnh khắc • trả lời có bằng chứng</a:t>
            </a:r>
            <a:endParaRPr lang="vi-VN"/>
          </a:p>
        </p:txBody>
      </p:sp>
      <p:sp>
        <p:nvSpPr>
          <p:cNvPr id="10" name="Shape 10"/>
          <p:cNvSpPr/>
          <p:nvPr/>
        </p:nvSpPr>
        <p:spPr>
          <a:xfrm>
            <a:off x="502920" y="2487168"/>
            <a:ext cx="1005840" cy="73152"/>
          </a:xfrm>
          <a:prstGeom prst="rect">
            <a:avLst/>
          </a:prstGeom>
          <a:solidFill>
            <a:srgbClr val="0F9E90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502920" y="2852928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2200">
                <a:solidFill>
                  <a:srgbClr val="596579"/>
                </a:solidFill>
                <a:latin typeface="Aptos"/>
              </a:rPr>
              <a:t>Từ 873 video đến benchmark 20 QA; đánh giá retrieval, VQA và ReAct agent.</a:t>
            </a:r>
            <a:endParaRPr lang="vi-VN"/>
          </a:p>
        </p:txBody>
      </p:sp>
      <p:sp>
        <p:nvSpPr>
          <p:cNvPr id="12" name="Text 12"/>
          <p:cNvSpPr txBox="1"/>
          <p:nvPr/>
        </p:nvSpPr>
        <p:spPr>
          <a:xfrm>
            <a:off x="502920" y="3858768"/>
            <a:ext cx="107899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600" b="1">
                <a:solidFill>
                  <a:srgbClr val="17233B"/>
                </a:solidFill>
                <a:latin typeface="Aptos"/>
              </a:rPr>
              <a:t>Trang Kỳ Anh · Lê Nguyễn Bảo Hân · Đặng Anh Đạt</a:t>
            </a:r>
            <a:endParaRPr lang="vi-VN"/>
          </a:p>
        </p:txBody>
      </p:sp>
      <p:sp>
        <p:nvSpPr>
          <p:cNvPr id="13" name="Text 13"/>
          <p:cNvSpPr txBox="1"/>
          <p:nvPr/>
        </p:nvSpPr>
        <p:spPr>
          <a:xfrm>
            <a:off x="502920" y="4242816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596579"/>
                </a:solidFill>
                <a:latin typeface="Aptos"/>
              </a:rPr>
              <a:t>GVHD: TS. Phạm Đỗ Kim Chi · UIT, ĐHQG TP.HCM</a:t>
            </a:r>
            <a:endParaRPr lang="vi-VN"/>
          </a:p>
        </p:txBody>
      </p:sp>
      <p:sp>
        <p:nvSpPr>
          <p:cNvPr id="14" name="Shape 14"/>
          <p:cNvSpPr/>
          <p:nvPr/>
        </p:nvSpPr>
        <p:spPr>
          <a:xfrm>
            <a:off x="502920" y="5020056"/>
            <a:ext cx="1188720" cy="338328"/>
          </a:xfrm>
          <a:prstGeom prst="roundRect">
            <a:avLst/>
          </a:prstGeom>
          <a:solidFill>
            <a:srgbClr val="F3F7FC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612648" y="5084064"/>
            <a:ext cx="987552" cy="1920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100" b="1">
                <a:solidFill>
                  <a:srgbClr val="2563EB"/>
                </a:solidFill>
                <a:latin typeface="Aptos"/>
              </a:rPr>
              <a:t>EVAL</a:t>
            </a:r>
            <a:endParaRPr lang="vi-VN"/>
          </a:p>
        </p:txBody>
      </p:sp>
      <p:sp>
        <p:nvSpPr>
          <p:cNvPr id="16" name="Shape 16"/>
          <p:cNvSpPr/>
          <p:nvPr/>
        </p:nvSpPr>
        <p:spPr>
          <a:xfrm>
            <a:off x="1819656" y="5020056"/>
            <a:ext cx="1536192" cy="338328"/>
          </a:xfrm>
          <a:prstGeom prst="roundRect">
            <a:avLst/>
          </a:prstGeom>
          <a:solidFill>
            <a:srgbClr val="F3F7FC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1929384" y="5084064"/>
            <a:ext cx="1335024" cy="1920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100" b="1">
                <a:solidFill>
                  <a:srgbClr val="2563EB"/>
                </a:solidFill>
                <a:latin typeface="Aptos"/>
              </a:rPr>
              <a:t>ABLATION</a:t>
            </a:r>
            <a:endParaRPr lang="vi-VN"/>
          </a:p>
        </p:txBody>
      </p:sp>
      <p:sp>
        <p:nvSpPr>
          <p:cNvPr id="18" name="Shape 18"/>
          <p:cNvSpPr/>
          <p:nvPr/>
        </p:nvSpPr>
        <p:spPr>
          <a:xfrm>
            <a:off x="3474720" y="5020056"/>
            <a:ext cx="2194560" cy="338328"/>
          </a:xfrm>
          <a:prstGeom prst="roundRect">
            <a:avLst/>
          </a:prstGeom>
          <a:solidFill>
            <a:srgbClr val="F3F7FC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3584448" y="5084064"/>
            <a:ext cx="1993392" cy="1920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100" b="1">
                <a:solidFill>
                  <a:srgbClr val="2563EB"/>
                </a:solidFill>
                <a:latin typeface="Aptos"/>
              </a:rPr>
              <a:t>ERROR ANALYSIS</a:t>
            </a:r>
            <a:endParaRPr lang="vi-VN"/>
          </a:p>
        </p:txBody>
      </p:sp>
      <p:sp>
        <p:nvSpPr>
          <p:cNvPr id="20" name="Text 20"/>
          <p:cNvSpPr txBox="1"/>
          <p:nvPr/>
        </p:nvSpPr>
        <p:spPr>
          <a:xfrm>
            <a:off x="502920" y="591616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>
                <a:solidFill>
                  <a:srgbClr val="596579"/>
                </a:solidFill>
                <a:latin typeface="Aptos"/>
              </a:rPr>
              <a:t>Nguồn: docs/latex/report.tex · hình gốc: docs/latex/images</a:t>
            </a:r>
            <a:endParaRPr lang="vi-V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438912" y="21945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000" b="1">
                <a:solidFill>
                  <a:srgbClr val="0F9E90"/>
                </a:solidFill>
                <a:latin typeface="Aptos"/>
              </a:rPr>
              <a:t>BÀI TOÁN</a:t>
            </a:r>
            <a:endParaRPr lang="vi-VN"/>
          </a:p>
        </p:txBody>
      </p:sp>
      <p:sp>
        <p:nvSpPr>
          <p:cNvPr id="5" name="Text 5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2800" b="1">
                <a:solidFill>
                  <a:srgbClr val="17233B"/>
                </a:solidFill>
                <a:latin typeface="Aptos"/>
              </a:rPr>
              <a:t>Từ video dài đến truy hồi frame-level</a:t>
            </a:r>
            <a:endParaRPr lang="vi-VN"/>
          </a:p>
        </p:txBody>
      </p:sp>
      <p:sp>
        <p:nvSpPr>
          <p:cNvPr id="6" name="Shape 6"/>
          <p:cNvSpPr/>
          <p:nvPr/>
        </p:nvSpPr>
        <p:spPr>
          <a:xfrm>
            <a:off x="438912" y="1161288"/>
            <a:ext cx="11292840" cy="13716"/>
          </a:xfrm>
          <a:prstGeom prst="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448056" y="6574536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800">
                <a:solidFill>
                  <a:srgbClr val="596579"/>
                </a:solidFill>
                <a:latin typeface="Aptos"/>
              </a:rPr>
              <a:t>VIDEO RAG  /  AIC 2025</a:t>
            </a:r>
            <a:endParaRPr lang="vi-VN"/>
          </a:p>
        </p:txBody>
      </p:sp>
      <p:sp>
        <p:nvSpPr>
          <p:cNvPr id="8" name="Text 8"/>
          <p:cNvSpPr txBox="1"/>
          <p:nvPr/>
        </p:nvSpPr>
        <p:spPr>
          <a:xfrm>
            <a:off x="11119104" y="652881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000">
                <a:solidFill>
                  <a:srgbClr val="596579"/>
                </a:solidFill>
                <a:latin typeface="Aptos"/>
              </a:rPr>
              <a:t>02</a:t>
            </a:r>
            <a:endParaRPr lang="vi-VN"/>
          </a:p>
        </p:txBody>
      </p:sp>
      <p:sp>
        <p:nvSpPr>
          <p:cNvPr id="9" name="Text 9"/>
          <p:cNvSpPr txBox="1"/>
          <p:nvPr/>
        </p:nvSpPr>
        <p:spPr>
          <a:xfrm>
            <a:off x="576072" y="1453896"/>
            <a:ext cx="10972800" cy="4937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2100" b="1">
                <a:solidFill>
                  <a:srgbClr val="17233B"/>
                </a:solidFill>
                <a:latin typeface="Aptos"/>
              </a:rPr>
              <a:t>Câu hỏi về một khoảnh khắc trong hàng trăm video</a:t>
            </a:r>
            <a:endParaRPr lang="vi-VN"/>
          </a:p>
        </p:txBody>
      </p:sp>
      <p:sp>
        <p:nvSpPr>
          <p:cNvPr id="10" name="Shape 10"/>
          <p:cNvSpPr/>
          <p:nvPr/>
        </p:nvSpPr>
        <p:spPr>
          <a:xfrm>
            <a:off x="548640" y="2148840"/>
            <a:ext cx="4873752" cy="2176272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1" name="Shape 11"/>
          <p:cNvSpPr/>
          <p:nvPr/>
        </p:nvSpPr>
        <p:spPr>
          <a:xfrm>
            <a:off x="548640" y="2148840"/>
            <a:ext cx="50292" cy="2176272"/>
          </a:xfrm>
          <a:prstGeom prst="rect">
            <a:avLst/>
          </a:prstGeom>
          <a:solidFill>
            <a:srgbClr val="C24152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749808" y="2313432"/>
            <a:ext cx="448970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C24152"/>
                </a:solidFill>
                <a:latin typeface="Aptos"/>
              </a:rPr>
              <a:t>Video-level</a:t>
            </a:r>
            <a:endParaRPr lang="vi-VN"/>
          </a:p>
        </p:txBody>
      </p:sp>
      <p:sp>
        <p:nvSpPr>
          <p:cNvPr id="13" name="Text 13"/>
          <p:cNvSpPr txBox="1"/>
          <p:nvPr/>
        </p:nvSpPr>
        <p:spPr>
          <a:xfrm>
            <a:off x="749808" y="2770632"/>
            <a:ext cx="4462272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>
                <a:solidFill>
                  <a:srgbClr val="17233B"/>
                </a:solidFill>
                <a:latin typeface="Aptos"/>
              </a:rPr>
              <a:t>Truy hồi video → temporal grounding.</a:t>
            </a:r>
            <a:endParaRPr lang="vi-VN"/>
          </a:p>
          <a:p>
            <a:pPr algn="l"/>
            <a:r>
              <a:rPr lang="vi-VN" sz="1700">
                <a:solidFill>
                  <a:srgbClr val="17233B"/>
                </a:solidFill>
                <a:latin typeface="Aptos"/>
              </a:rPr>
              <a:t>Video encoder nặng; moment ngắn dễ bị pha loãng.</a:t>
            </a:r>
            <a:endParaRPr lang="vi-VN"/>
          </a:p>
        </p:txBody>
      </p:sp>
      <p:sp>
        <p:nvSpPr>
          <p:cNvPr id="14" name="Text 14"/>
          <p:cNvSpPr txBox="1"/>
          <p:nvPr/>
        </p:nvSpPr>
        <p:spPr>
          <a:xfrm>
            <a:off x="5614416" y="2889504"/>
            <a:ext cx="658368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vi-VN" sz="3000" b="1">
                <a:solidFill>
                  <a:srgbClr val="2563EB"/>
                </a:solidFill>
                <a:latin typeface="Aptos"/>
              </a:rPr>
              <a:t>→</a:t>
            </a:r>
            <a:endParaRPr lang="vi-VN"/>
          </a:p>
        </p:txBody>
      </p:sp>
      <p:sp>
        <p:nvSpPr>
          <p:cNvPr id="15" name="Shape 15"/>
          <p:cNvSpPr/>
          <p:nvPr/>
        </p:nvSpPr>
        <p:spPr>
          <a:xfrm>
            <a:off x="6428232" y="2148840"/>
            <a:ext cx="5184648" cy="2176272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6" name="Shape 16"/>
          <p:cNvSpPr/>
          <p:nvPr/>
        </p:nvSpPr>
        <p:spPr>
          <a:xfrm>
            <a:off x="6428232" y="2148840"/>
            <a:ext cx="50292" cy="2176272"/>
          </a:xfrm>
          <a:prstGeom prst="rect">
            <a:avLst/>
          </a:prstGeom>
          <a:solidFill>
            <a:srgbClr val="0F9E90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6629400" y="2313432"/>
            <a:ext cx="48006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0F9E90"/>
                </a:solidFill>
                <a:latin typeface="Aptos"/>
              </a:rPr>
              <a:t>Frame-level</a:t>
            </a:r>
            <a:endParaRPr lang="vi-VN"/>
          </a:p>
        </p:txBody>
      </p:sp>
      <p:sp>
        <p:nvSpPr>
          <p:cNvPr id="18" name="Text 18"/>
          <p:cNvSpPr txBox="1"/>
          <p:nvPr/>
        </p:nvSpPr>
        <p:spPr>
          <a:xfrm>
            <a:off x="6629400" y="2770632"/>
            <a:ext cx="4773168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>
                <a:solidFill>
                  <a:srgbClr val="17233B"/>
                </a:solidFill>
                <a:latin typeface="Aptos"/>
              </a:rPr>
              <a:t>Shot boundary → keyframe đại diện.</a:t>
            </a:r>
            <a:endParaRPr lang="vi-VN"/>
          </a:p>
          <a:p>
            <a:pPr algn="l"/>
            <a:r>
              <a:rPr lang="vi-VN" sz="1700">
                <a:solidFill>
                  <a:srgbClr val="17233B"/>
                </a:solidFill>
                <a:latin typeface="Aptos"/>
              </a:rPr>
              <a:t>Mỗi frame có ảnh, OCR, objects và timestamp.</a:t>
            </a:r>
            <a:endParaRPr lang="vi-VN"/>
          </a:p>
        </p:txBody>
      </p:sp>
      <p:sp>
        <p:nvSpPr>
          <p:cNvPr id="19" name="Shape 19"/>
          <p:cNvSpPr/>
          <p:nvPr/>
        </p:nvSpPr>
        <p:spPr>
          <a:xfrm>
            <a:off x="557784" y="4837176"/>
            <a:ext cx="10991088" cy="987552"/>
          </a:xfrm>
          <a:prstGeom prst="roundRect">
            <a:avLst/>
          </a:prstGeom>
          <a:solidFill>
            <a:srgbClr val="F3F7FC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813816" y="5148072"/>
            <a:ext cx="104241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2000" b="1">
                <a:solidFill>
                  <a:srgbClr val="17233B"/>
                </a:solidFill>
                <a:latin typeface="Aptos"/>
              </a:rPr>
              <a:t>Mục tiêu: tìm đúng frame có bằng chứng, rồi mới để VLM trả lời.</a:t>
            </a:r>
            <a:endParaRPr lang="vi-V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438912" y="21945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000" b="1">
                <a:solidFill>
                  <a:srgbClr val="0F9E90"/>
                </a:solidFill>
                <a:latin typeface="Aptos"/>
              </a:rPr>
              <a:t>DỮ LIỆU</a:t>
            </a:r>
            <a:endParaRPr lang="vi-VN"/>
          </a:p>
        </p:txBody>
      </p:sp>
      <p:sp>
        <p:nvSpPr>
          <p:cNvPr id="5" name="Text 5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2800" b="1">
                <a:solidFill>
                  <a:srgbClr val="17233B"/>
                </a:solidFill>
                <a:latin typeface="Aptos"/>
              </a:rPr>
              <a:t>Shot boundary → keyframe</a:t>
            </a:r>
            <a:endParaRPr lang="vi-VN"/>
          </a:p>
        </p:txBody>
      </p:sp>
      <p:sp>
        <p:nvSpPr>
          <p:cNvPr id="6" name="Shape 6"/>
          <p:cNvSpPr/>
          <p:nvPr/>
        </p:nvSpPr>
        <p:spPr>
          <a:xfrm>
            <a:off x="438912" y="1161288"/>
            <a:ext cx="11292840" cy="13716"/>
          </a:xfrm>
          <a:prstGeom prst="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448056" y="6574536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800">
                <a:solidFill>
                  <a:srgbClr val="596579"/>
                </a:solidFill>
                <a:latin typeface="Aptos"/>
              </a:rPr>
              <a:t>VIDEO RAG  /  AIC 2025</a:t>
            </a:r>
            <a:endParaRPr lang="vi-VN"/>
          </a:p>
        </p:txBody>
      </p:sp>
      <p:sp>
        <p:nvSpPr>
          <p:cNvPr id="8" name="Text 8"/>
          <p:cNvSpPr txBox="1"/>
          <p:nvPr/>
        </p:nvSpPr>
        <p:spPr>
          <a:xfrm>
            <a:off x="11119104" y="652881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000">
                <a:solidFill>
                  <a:srgbClr val="596579"/>
                </a:solidFill>
                <a:latin typeface="Aptos"/>
              </a:rPr>
              <a:t>03</a:t>
            </a:r>
            <a:endParaRPr lang="vi-VN"/>
          </a:p>
        </p:txBody>
      </p:sp>
      <p:pic>
        <p:nvPicPr>
          <p:cNvPr id="9" name="transnetv2.png" descr="Original figure: transnet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995" y="1389888"/>
            <a:ext cx="3907866" cy="4828032"/>
          </a:xfrm>
          <a:prstGeom prst="rect">
            <a:avLst/>
          </a:prstGeom>
          <a:ln>
            <a:noFill/>
          </a:ln>
        </p:spPr>
      </p:pic>
      <p:sp>
        <p:nvSpPr>
          <p:cNvPr id="10" name="Shape 10"/>
          <p:cNvSpPr/>
          <p:nvPr/>
        </p:nvSpPr>
        <p:spPr>
          <a:xfrm>
            <a:off x="5486400" y="1627632"/>
            <a:ext cx="5925312" cy="2029968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1" name="Shape 11"/>
          <p:cNvSpPr/>
          <p:nvPr/>
        </p:nvSpPr>
        <p:spPr>
          <a:xfrm>
            <a:off x="5486400" y="1627632"/>
            <a:ext cx="50292" cy="202996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5687568" y="1792224"/>
            <a:ext cx="554126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2563EB"/>
                </a:solidFill>
                <a:latin typeface="Aptos"/>
              </a:rPr>
              <a:t>Corpus</a:t>
            </a:r>
            <a:endParaRPr lang="vi-VN"/>
          </a:p>
        </p:txBody>
      </p:sp>
      <p:sp>
        <p:nvSpPr>
          <p:cNvPr id="13" name="Text 13"/>
          <p:cNvSpPr txBox="1"/>
          <p:nvPr/>
        </p:nvSpPr>
        <p:spPr>
          <a:xfrm>
            <a:off x="5687568" y="2249424"/>
            <a:ext cx="5513832" cy="131673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>
                <a:solidFill>
                  <a:srgbClr val="17233B"/>
                </a:solidFill>
                <a:latin typeface="Aptos"/>
              </a:rPr>
              <a:t>873 video L21–L30</a:t>
            </a:r>
            <a:endParaRPr lang="vi-VN"/>
          </a:p>
          <a:p>
            <a:pPr algn="l"/>
            <a:r>
              <a:rPr lang="vi-VN" sz="1700">
                <a:solidFill>
                  <a:srgbClr val="17233B"/>
                </a:solidFill>
                <a:latin typeface="Aptos"/>
              </a:rPr>
              <a:t>168.749 keyframe sau xử lý</a:t>
            </a:r>
            <a:endParaRPr lang="vi-VN"/>
          </a:p>
          <a:p>
            <a:pPr algn="l"/>
            <a:r>
              <a:rPr lang="vi-VN" sz="1700">
                <a:solidFill>
                  <a:srgbClr val="17233B"/>
                </a:solidFill>
                <a:latin typeface="Aptos"/>
              </a:rPr>
              <a:t>Frame-level index + OCR + objects + timestamp</a:t>
            </a:r>
            <a:endParaRPr lang="vi-VN"/>
          </a:p>
        </p:txBody>
      </p:sp>
      <p:sp>
        <p:nvSpPr>
          <p:cNvPr id="14" name="Shape 14"/>
          <p:cNvSpPr/>
          <p:nvPr/>
        </p:nvSpPr>
        <p:spPr>
          <a:xfrm>
            <a:off x="5486400" y="3913632"/>
            <a:ext cx="5925312" cy="1746504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5" name="Shape 15"/>
          <p:cNvSpPr/>
          <p:nvPr/>
        </p:nvSpPr>
        <p:spPr>
          <a:xfrm>
            <a:off x="5486400" y="3913632"/>
            <a:ext cx="50292" cy="1746504"/>
          </a:xfrm>
          <a:prstGeom prst="rect">
            <a:avLst/>
          </a:prstGeom>
          <a:solidFill>
            <a:srgbClr val="0F9E90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5687568" y="4078224"/>
            <a:ext cx="554126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0F9E90"/>
                </a:solidFill>
                <a:latin typeface="Aptos"/>
              </a:rPr>
              <a:t>TransNetV2</a:t>
            </a:r>
            <a:endParaRPr lang="vi-VN"/>
          </a:p>
        </p:txBody>
      </p:sp>
      <p:sp>
        <p:nvSpPr>
          <p:cNvPr id="17" name="Text 17"/>
          <p:cNvSpPr txBox="1"/>
          <p:nvPr/>
        </p:nvSpPr>
        <p:spPr>
          <a:xfrm>
            <a:off x="5687568" y="4535424"/>
            <a:ext cx="5513832" cy="10332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>
                <a:solidFill>
                  <a:srgbClr val="17233B"/>
                </a:solidFill>
                <a:latin typeface="Aptos"/>
              </a:rPr>
              <a:t>Chọn frame đại diện tại ranh giới shot.</a:t>
            </a:r>
            <a:endParaRPr lang="vi-VN"/>
          </a:p>
          <a:p>
            <a:pPr algn="l"/>
            <a:r>
              <a:rPr lang="vi-VN" sz="1700">
                <a:solidFill>
                  <a:srgbClr val="17233B"/>
                </a:solidFill>
                <a:latin typeface="Aptos"/>
              </a:rPr>
              <a:t>Lọc frame trắng/đen trước khi lập chỉ mục.</a:t>
            </a:r>
            <a:endParaRPr lang="vi-V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438912" y="21945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000" b="1">
                <a:solidFill>
                  <a:srgbClr val="0F9E90"/>
                </a:solidFill>
                <a:latin typeface="Aptos"/>
              </a:rPr>
              <a:t>KIẾN TRÚC</a:t>
            </a:r>
            <a:endParaRPr lang="vi-VN"/>
          </a:p>
        </p:txBody>
      </p:sp>
      <p:sp>
        <p:nvSpPr>
          <p:cNvPr id="5" name="Text 5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2800" b="1">
                <a:solidFill>
                  <a:srgbClr val="17233B"/>
                </a:solidFill>
                <a:latin typeface="Aptos"/>
              </a:rPr>
              <a:t>5 tầng: offline nặng, online nhẹ</a:t>
            </a:r>
            <a:endParaRPr lang="vi-VN"/>
          </a:p>
        </p:txBody>
      </p:sp>
      <p:sp>
        <p:nvSpPr>
          <p:cNvPr id="6" name="Shape 6"/>
          <p:cNvSpPr/>
          <p:nvPr/>
        </p:nvSpPr>
        <p:spPr>
          <a:xfrm>
            <a:off x="438912" y="1161288"/>
            <a:ext cx="11292840" cy="13716"/>
          </a:xfrm>
          <a:prstGeom prst="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448056" y="6574536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800">
                <a:solidFill>
                  <a:srgbClr val="596579"/>
                </a:solidFill>
                <a:latin typeface="Aptos"/>
              </a:rPr>
              <a:t>VIDEO RAG  /  AIC 2025</a:t>
            </a:r>
            <a:endParaRPr lang="vi-VN"/>
          </a:p>
        </p:txBody>
      </p:sp>
      <p:sp>
        <p:nvSpPr>
          <p:cNvPr id="8" name="Text 8"/>
          <p:cNvSpPr txBox="1"/>
          <p:nvPr/>
        </p:nvSpPr>
        <p:spPr>
          <a:xfrm>
            <a:off x="11119104" y="652881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000">
                <a:solidFill>
                  <a:srgbClr val="596579"/>
                </a:solidFill>
                <a:latin typeface="Aptos"/>
              </a:rPr>
              <a:t>04</a:t>
            </a:r>
            <a:endParaRPr lang="vi-VN"/>
          </a:p>
        </p:txBody>
      </p:sp>
      <p:pic>
        <p:nvPicPr>
          <p:cNvPr id="9" name="diagram_1.png" descr="Original figure: diagram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763486"/>
            <a:ext cx="11219688" cy="1602813"/>
          </a:xfrm>
          <a:prstGeom prst="rect">
            <a:avLst/>
          </a:prstGeom>
          <a:ln>
            <a:noFill/>
          </a:ln>
        </p:spPr>
      </p:pic>
      <p:sp>
        <p:nvSpPr>
          <p:cNvPr id="10" name="Shape 10"/>
          <p:cNvSpPr/>
          <p:nvPr/>
        </p:nvSpPr>
        <p:spPr>
          <a:xfrm>
            <a:off x="576072" y="3831336"/>
            <a:ext cx="5413248" cy="1435608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1" name="Shape 11"/>
          <p:cNvSpPr/>
          <p:nvPr/>
        </p:nvSpPr>
        <p:spPr>
          <a:xfrm>
            <a:off x="576072" y="3831336"/>
            <a:ext cx="50292" cy="143560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777240" y="3995928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2563EB"/>
                </a:solidFill>
                <a:latin typeface="Aptos"/>
              </a:rPr>
              <a:t>Offline</a:t>
            </a:r>
            <a:endParaRPr lang="vi-VN"/>
          </a:p>
        </p:txBody>
      </p:sp>
      <p:sp>
        <p:nvSpPr>
          <p:cNvPr id="13" name="Text 13"/>
          <p:cNvSpPr txBox="1"/>
          <p:nvPr/>
        </p:nvSpPr>
        <p:spPr>
          <a:xfrm>
            <a:off x="777240" y="4453128"/>
            <a:ext cx="5001768" cy="7223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600">
                <a:solidFill>
                  <a:srgbClr val="17233B"/>
                </a:solidFill>
                <a:latin typeface="Aptos"/>
              </a:rPr>
              <a:t>Shot detection → keyframe → SigLIP2 / OCR / objects → Milvus + BM25</a:t>
            </a:r>
            <a:endParaRPr lang="vi-VN"/>
          </a:p>
        </p:txBody>
      </p:sp>
      <p:sp>
        <p:nvSpPr>
          <p:cNvPr id="14" name="Shape 14"/>
          <p:cNvSpPr/>
          <p:nvPr/>
        </p:nvSpPr>
        <p:spPr>
          <a:xfrm>
            <a:off x="6163056" y="3831336"/>
            <a:ext cx="5413248" cy="1435608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5" name="Shape 15"/>
          <p:cNvSpPr/>
          <p:nvPr/>
        </p:nvSpPr>
        <p:spPr>
          <a:xfrm>
            <a:off x="6163056" y="3831336"/>
            <a:ext cx="50292" cy="1435608"/>
          </a:xfrm>
          <a:prstGeom prst="rect">
            <a:avLst/>
          </a:prstGeom>
          <a:solidFill>
            <a:srgbClr val="0F9E90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6364224" y="3995928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0F9E90"/>
                </a:solidFill>
                <a:latin typeface="Aptos"/>
              </a:rPr>
              <a:t>Online</a:t>
            </a:r>
            <a:endParaRPr lang="vi-VN"/>
          </a:p>
        </p:txBody>
      </p:sp>
      <p:sp>
        <p:nvSpPr>
          <p:cNvPr id="17" name="Text 17"/>
          <p:cNvSpPr txBox="1"/>
          <p:nvPr/>
        </p:nvSpPr>
        <p:spPr>
          <a:xfrm>
            <a:off x="6364224" y="4453128"/>
            <a:ext cx="5001768" cy="7223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600">
                <a:solidFill>
                  <a:srgbClr val="17233B"/>
                </a:solidFill>
                <a:latin typeface="Aptos"/>
              </a:rPr>
              <a:t>Parse → hybrid retrieval → temporal matching → rerank → VQA / agent</a:t>
            </a:r>
            <a:endParaRPr lang="vi-V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438912" y="21945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000" b="1">
                <a:solidFill>
                  <a:srgbClr val="0F9E90"/>
                </a:solidFill>
                <a:latin typeface="Aptos"/>
              </a:rPr>
              <a:t>PHƯƠNG PHÁP</a:t>
            </a:r>
            <a:endParaRPr lang="vi-VN"/>
          </a:p>
        </p:txBody>
      </p:sp>
      <p:sp>
        <p:nvSpPr>
          <p:cNvPr id="5" name="Text 5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2800" b="1">
                <a:solidFill>
                  <a:srgbClr val="17233B"/>
                </a:solidFill>
                <a:latin typeface="Aptos"/>
              </a:rPr>
              <a:t>Hiểu truy vấn tiếng Việt</a:t>
            </a:r>
            <a:endParaRPr lang="vi-VN"/>
          </a:p>
        </p:txBody>
      </p:sp>
      <p:sp>
        <p:nvSpPr>
          <p:cNvPr id="6" name="Shape 6"/>
          <p:cNvSpPr/>
          <p:nvPr/>
        </p:nvSpPr>
        <p:spPr>
          <a:xfrm>
            <a:off x="438912" y="1161288"/>
            <a:ext cx="11292840" cy="13716"/>
          </a:xfrm>
          <a:prstGeom prst="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448056" y="6574536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800">
                <a:solidFill>
                  <a:srgbClr val="596579"/>
                </a:solidFill>
                <a:latin typeface="Aptos"/>
              </a:rPr>
              <a:t>VIDEO RAG  /  AIC 2025</a:t>
            </a:r>
            <a:endParaRPr lang="vi-VN"/>
          </a:p>
        </p:txBody>
      </p:sp>
      <p:sp>
        <p:nvSpPr>
          <p:cNvPr id="8" name="Text 8"/>
          <p:cNvSpPr txBox="1"/>
          <p:nvPr/>
        </p:nvSpPr>
        <p:spPr>
          <a:xfrm>
            <a:off x="11119104" y="652881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000">
                <a:solidFill>
                  <a:srgbClr val="596579"/>
                </a:solidFill>
                <a:latin typeface="Aptos"/>
              </a:rPr>
              <a:t>05</a:t>
            </a:r>
            <a:endParaRPr lang="vi-VN"/>
          </a:p>
        </p:txBody>
      </p:sp>
      <p:pic>
        <p:nvPicPr>
          <p:cNvPr id="9" name="diagram_2.png" descr="Original figure: diagram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561361"/>
            <a:ext cx="11228832" cy="3022045"/>
          </a:xfrm>
          <a:prstGeom prst="rect">
            <a:avLst/>
          </a:prstGeom>
          <a:ln>
            <a:noFill/>
          </a:ln>
        </p:spPr>
      </p:pic>
      <p:sp>
        <p:nvSpPr>
          <p:cNvPr id="10" name="Shape 10"/>
          <p:cNvSpPr/>
          <p:nvPr/>
        </p:nvSpPr>
        <p:spPr>
          <a:xfrm>
            <a:off x="566928" y="4956048"/>
            <a:ext cx="5513832" cy="1005840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1" name="Shape 11"/>
          <p:cNvSpPr/>
          <p:nvPr/>
        </p:nvSpPr>
        <p:spPr>
          <a:xfrm>
            <a:off x="566928" y="4956048"/>
            <a:ext cx="5029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768096" y="5120640"/>
            <a:ext cx="512978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2563EB"/>
                </a:solidFill>
                <a:latin typeface="Aptos"/>
              </a:rPr>
              <a:t>Hai tín hiệu song song</a:t>
            </a:r>
            <a:endParaRPr lang="vi-VN"/>
          </a:p>
        </p:txBody>
      </p:sp>
      <p:sp>
        <p:nvSpPr>
          <p:cNvPr id="13" name="Text 13"/>
          <p:cNvSpPr txBox="1"/>
          <p:nvPr/>
        </p:nvSpPr>
        <p:spPr>
          <a:xfrm>
            <a:off x="768096" y="5577840"/>
            <a:ext cx="5102352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LLM parse sự kiện/quan hệ thời gian; regex lấy OCR literal và object.</a:t>
            </a:r>
            <a:endParaRPr lang="vi-VN"/>
          </a:p>
        </p:txBody>
      </p:sp>
      <p:sp>
        <p:nvSpPr>
          <p:cNvPr id="14" name="Shape 14"/>
          <p:cNvSpPr/>
          <p:nvPr/>
        </p:nvSpPr>
        <p:spPr>
          <a:xfrm>
            <a:off x="6245352" y="4956048"/>
            <a:ext cx="5340096" cy="1005840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5" name="Shape 15"/>
          <p:cNvSpPr/>
          <p:nvPr/>
        </p:nvSpPr>
        <p:spPr>
          <a:xfrm>
            <a:off x="6245352" y="4956048"/>
            <a:ext cx="50292" cy="1005840"/>
          </a:xfrm>
          <a:prstGeom prst="rect">
            <a:avLst/>
          </a:prstGeom>
          <a:solidFill>
            <a:srgbClr val="0F9E90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6446520" y="5120640"/>
            <a:ext cx="4956048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0F9E90"/>
                </a:solidFill>
                <a:latin typeface="Aptos"/>
              </a:rPr>
              <a:t>Fallback</a:t>
            </a:r>
            <a:endParaRPr lang="vi-VN"/>
          </a:p>
        </p:txBody>
      </p:sp>
      <p:sp>
        <p:nvSpPr>
          <p:cNvPr id="17" name="Text 17"/>
          <p:cNvSpPr txBox="1"/>
          <p:nvPr/>
        </p:nvSpPr>
        <p:spPr>
          <a:xfrm>
            <a:off x="6446520" y="5577840"/>
            <a:ext cx="4928616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LLM lỗi → dịch truy vấn và tạo một sự kiện để vẫn tìm kiếm được.</a:t>
            </a:r>
            <a:endParaRPr lang="vi-V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438912" y="21945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000" b="1">
                <a:solidFill>
                  <a:srgbClr val="0F9E90"/>
                </a:solidFill>
                <a:latin typeface="Aptos"/>
              </a:rPr>
              <a:t>PHƯƠNG PHÁP</a:t>
            </a:r>
            <a:endParaRPr lang="vi-VN"/>
          </a:p>
        </p:txBody>
      </p:sp>
      <p:sp>
        <p:nvSpPr>
          <p:cNvPr id="5" name="Text 5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2800" b="1">
                <a:solidFill>
                  <a:srgbClr val="17233B"/>
                </a:solidFill>
                <a:latin typeface="Aptos"/>
              </a:rPr>
              <a:t>Truy hồi lai và RRF</a:t>
            </a:r>
            <a:endParaRPr lang="vi-VN"/>
          </a:p>
        </p:txBody>
      </p:sp>
      <p:sp>
        <p:nvSpPr>
          <p:cNvPr id="6" name="Shape 6"/>
          <p:cNvSpPr/>
          <p:nvPr/>
        </p:nvSpPr>
        <p:spPr>
          <a:xfrm>
            <a:off x="438912" y="1161288"/>
            <a:ext cx="11292840" cy="13716"/>
          </a:xfrm>
          <a:prstGeom prst="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448056" y="6574536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800">
                <a:solidFill>
                  <a:srgbClr val="596579"/>
                </a:solidFill>
                <a:latin typeface="Aptos"/>
              </a:rPr>
              <a:t>VIDEO RAG  /  AIC 2025</a:t>
            </a:r>
            <a:endParaRPr lang="vi-VN"/>
          </a:p>
        </p:txBody>
      </p:sp>
      <p:sp>
        <p:nvSpPr>
          <p:cNvPr id="8" name="Text 8"/>
          <p:cNvSpPr txBox="1"/>
          <p:nvPr/>
        </p:nvSpPr>
        <p:spPr>
          <a:xfrm>
            <a:off x="11119104" y="652881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000">
                <a:solidFill>
                  <a:srgbClr val="596579"/>
                </a:solidFill>
                <a:latin typeface="Aptos"/>
              </a:rPr>
              <a:t>06</a:t>
            </a:r>
            <a:endParaRPr lang="vi-VN"/>
          </a:p>
        </p:txBody>
      </p:sp>
      <p:pic>
        <p:nvPicPr>
          <p:cNvPr id="9" name="diagram_3.png" descr="Original figure: diagram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277" y="1325880"/>
            <a:ext cx="8338398" cy="502005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438912" y="21945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000" b="1">
                <a:solidFill>
                  <a:srgbClr val="0F9E90"/>
                </a:solidFill>
                <a:latin typeface="Aptos"/>
              </a:rPr>
              <a:t>PHƯƠNG PHÁP</a:t>
            </a:r>
            <a:endParaRPr lang="vi-VN"/>
          </a:p>
        </p:txBody>
      </p:sp>
      <p:sp>
        <p:nvSpPr>
          <p:cNvPr id="5" name="Text 5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2800" b="1">
                <a:solidFill>
                  <a:srgbClr val="17233B"/>
                </a:solidFill>
                <a:latin typeface="Aptos"/>
              </a:rPr>
              <a:t>Temporal chain matching</a:t>
            </a:r>
            <a:endParaRPr lang="vi-VN"/>
          </a:p>
        </p:txBody>
      </p:sp>
      <p:sp>
        <p:nvSpPr>
          <p:cNvPr id="6" name="Shape 6"/>
          <p:cNvSpPr/>
          <p:nvPr/>
        </p:nvSpPr>
        <p:spPr>
          <a:xfrm>
            <a:off x="438912" y="1161288"/>
            <a:ext cx="11292840" cy="13716"/>
          </a:xfrm>
          <a:prstGeom prst="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448056" y="6574536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800">
                <a:solidFill>
                  <a:srgbClr val="596579"/>
                </a:solidFill>
                <a:latin typeface="Aptos"/>
              </a:rPr>
              <a:t>VIDEO RAG  /  AIC 2025</a:t>
            </a:r>
            <a:endParaRPr lang="vi-VN"/>
          </a:p>
        </p:txBody>
      </p:sp>
      <p:sp>
        <p:nvSpPr>
          <p:cNvPr id="8" name="Text 8"/>
          <p:cNvSpPr txBox="1"/>
          <p:nvPr/>
        </p:nvSpPr>
        <p:spPr>
          <a:xfrm>
            <a:off x="11119104" y="652881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000">
                <a:solidFill>
                  <a:srgbClr val="596579"/>
                </a:solidFill>
                <a:latin typeface="Aptos"/>
              </a:rPr>
              <a:t>07</a:t>
            </a:r>
            <a:endParaRPr lang="vi-VN"/>
          </a:p>
        </p:txBody>
      </p:sp>
      <p:pic>
        <p:nvPicPr>
          <p:cNvPr id="9" name="diagram_4.png" descr="Original figure: diagram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09253"/>
            <a:ext cx="11173968" cy="826646"/>
          </a:xfrm>
          <a:prstGeom prst="rect">
            <a:avLst/>
          </a:prstGeom>
          <a:ln>
            <a:noFill/>
          </a:ln>
        </p:spPr>
      </p:pic>
      <p:sp>
        <p:nvSpPr>
          <p:cNvPr id="10" name="Shape 10"/>
          <p:cNvSpPr/>
          <p:nvPr/>
        </p:nvSpPr>
        <p:spPr>
          <a:xfrm>
            <a:off x="566928" y="3465576"/>
            <a:ext cx="3538728" cy="1737360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1" name="Shape 11"/>
          <p:cNvSpPr/>
          <p:nvPr/>
        </p:nvSpPr>
        <p:spPr>
          <a:xfrm>
            <a:off x="566928" y="3465576"/>
            <a:ext cx="50292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768096" y="3630168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2563EB"/>
                </a:solidFill>
                <a:latin typeface="Aptos"/>
              </a:rPr>
              <a:t>Điều kiện</a:t>
            </a:r>
            <a:endParaRPr lang="vi-VN"/>
          </a:p>
        </p:txBody>
      </p:sp>
      <p:sp>
        <p:nvSpPr>
          <p:cNvPr id="13" name="Text 13"/>
          <p:cNvSpPr txBox="1"/>
          <p:nvPr/>
        </p:nvSpPr>
        <p:spPr>
          <a:xfrm>
            <a:off x="768096" y="4087368"/>
            <a:ext cx="3127248" cy="10241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>
                <a:solidFill>
                  <a:srgbClr val="17233B"/>
                </a:solidFill>
                <a:latin typeface="Aptos"/>
              </a:rPr>
              <a:t>Cùng video • đúng thứ tự pts_time • gap ≤ ngưỡng.</a:t>
            </a:r>
            <a:endParaRPr lang="vi-VN"/>
          </a:p>
        </p:txBody>
      </p:sp>
      <p:sp>
        <p:nvSpPr>
          <p:cNvPr id="14" name="Shape 14"/>
          <p:cNvSpPr/>
          <p:nvPr/>
        </p:nvSpPr>
        <p:spPr>
          <a:xfrm>
            <a:off x="4315968" y="3465576"/>
            <a:ext cx="3538728" cy="1737360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5" name="Shape 15"/>
          <p:cNvSpPr/>
          <p:nvPr/>
        </p:nvSpPr>
        <p:spPr>
          <a:xfrm>
            <a:off x="4315968" y="3465576"/>
            <a:ext cx="50292" cy="1737360"/>
          </a:xfrm>
          <a:prstGeom prst="rect">
            <a:avLst/>
          </a:prstGeom>
          <a:solidFill>
            <a:srgbClr val="0F9E90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4517136" y="3630168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0F9E90"/>
                </a:solidFill>
                <a:latin typeface="Aptos"/>
              </a:rPr>
              <a:t>Điểm chain</a:t>
            </a:r>
            <a:endParaRPr lang="vi-VN"/>
          </a:p>
        </p:txBody>
      </p:sp>
      <p:sp>
        <p:nvSpPr>
          <p:cNvPr id="17" name="Text 17"/>
          <p:cNvSpPr txBox="1"/>
          <p:nvPr/>
        </p:nvSpPr>
        <p:spPr>
          <a:xfrm>
            <a:off x="4517136" y="4087368"/>
            <a:ext cx="3127248" cy="10241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>
                <a:solidFill>
                  <a:srgbClr val="17233B"/>
                </a:solidFill>
                <a:latin typeface="Aptos"/>
              </a:rPr>
              <a:t>Mean relevance × coverage; giữ top 20 chain và khử trùng.</a:t>
            </a:r>
            <a:endParaRPr lang="vi-VN"/>
          </a:p>
        </p:txBody>
      </p:sp>
      <p:sp>
        <p:nvSpPr>
          <p:cNvPr id="18" name="Shape 18"/>
          <p:cNvSpPr/>
          <p:nvPr/>
        </p:nvSpPr>
        <p:spPr>
          <a:xfrm>
            <a:off x="8065008" y="3465576"/>
            <a:ext cx="3538728" cy="1737360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9" name="Shape 19"/>
          <p:cNvSpPr/>
          <p:nvPr/>
        </p:nvSpPr>
        <p:spPr>
          <a:xfrm>
            <a:off x="8065008" y="3465576"/>
            <a:ext cx="50292" cy="1737360"/>
          </a:xfrm>
          <a:prstGeom prst="rect">
            <a:avLst/>
          </a:prstGeom>
          <a:solidFill>
            <a:srgbClr val="D88A17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8266176" y="3630168"/>
            <a:ext cx="31546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D88A17"/>
                </a:solidFill>
                <a:latin typeface="Aptos"/>
              </a:rPr>
              <a:t>Giới hạn</a:t>
            </a:r>
            <a:endParaRPr lang="vi-VN"/>
          </a:p>
        </p:txBody>
      </p:sp>
      <p:sp>
        <p:nvSpPr>
          <p:cNvPr id="21" name="Text 21"/>
          <p:cNvSpPr txBox="1"/>
          <p:nvPr/>
        </p:nvSpPr>
        <p:spPr>
          <a:xfrm>
            <a:off x="8266176" y="4087368"/>
            <a:ext cx="3127248" cy="10241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>
                <a:solidFill>
                  <a:srgbClr val="17233B"/>
                </a:solidFill>
                <a:latin typeface="Aptos"/>
              </a:rPr>
              <a:t>Greedy có thể chọn sai khi cảnh tương tự lặp lại trong video.</a:t>
            </a:r>
            <a:endParaRPr lang="vi-V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438912" y="21945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000" b="1">
                <a:solidFill>
                  <a:srgbClr val="0F9E90"/>
                </a:solidFill>
                <a:latin typeface="Aptos"/>
              </a:rPr>
              <a:t>PHƯƠNG PHÁP</a:t>
            </a:r>
            <a:endParaRPr lang="vi-VN"/>
          </a:p>
        </p:txBody>
      </p:sp>
      <p:sp>
        <p:nvSpPr>
          <p:cNvPr id="5" name="Text 5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2800" b="1">
                <a:solidFill>
                  <a:srgbClr val="17233B"/>
                </a:solidFill>
                <a:latin typeface="Aptos"/>
              </a:rPr>
              <a:t>Manual và Agentic: chung core, khác luồng</a:t>
            </a:r>
            <a:endParaRPr lang="vi-VN"/>
          </a:p>
        </p:txBody>
      </p:sp>
      <p:sp>
        <p:nvSpPr>
          <p:cNvPr id="6" name="Shape 6"/>
          <p:cNvSpPr/>
          <p:nvPr/>
        </p:nvSpPr>
        <p:spPr>
          <a:xfrm>
            <a:off x="438912" y="1161288"/>
            <a:ext cx="11292840" cy="13716"/>
          </a:xfrm>
          <a:prstGeom prst="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448056" y="6574536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800">
                <a:solidFill>
                  <a:srgbClr val="596579"/>
                </a:solidFill>
                <a:latin typeface="Aptos"/>
              </a:rPr>
              <a:t>VIDEO RAG  /  AIC 2025</a:t>
            </a:r>
            <a:endParaRPr lang="vi-VN"/>
          </a:p>
        </p:txBody>
      </p:sp>
      <p:sp>
        <p:nvSpPr>
          <p:cNvPr id="8" name="Text 8"/>
          <p:cNvSpPr txBox="1"/>
          <p:nvPr/>
        </p:nvSpPr>
        <p:spPr>
          <a:xfrm>
            <a:off x="11119104" y="652881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000">
                <a:solidFill>
                  <a:srgbClr val="596579"/>
                </a:solidFill>
                <a:latin typeface="Aptos"/>
              </a:rPr>
              <a:t>08</a:t>
            </a:r>
            <a:endParaRPr lang="vi-VN"/>
          </a:p>
        </p:txBody>
      </p:sp>
      <p:sp>
        <p:nvSpPr>
          <p:cNvPr id="9" name="Shape 9"/>
          <p:cNvSpPr/>
          <p:nvPr/>
        </p:nvSpPr>
        <p:spPr>
          <a:xfrm>
            <a:off x="557784" y="1389888"/>
            <a:ext cx="11064240" cy="786384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0" name="Text 10"/>
          <p:cNvSpPr txBox="1"/>
          <p:nvPr/>
        </p:nvSpPr>
        <p:spPr>
          <a:xfrm>
            <a:off x="758952" y="1627632"/>
            <a:ext cx="154533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 b="1">
                <a:solidFill>
                  <a:srgbClr val="2563EB"/>
                </a:solidFill>
                <a:latin typeface="Aptos"/>
              </a:rPr>
              <a:t>SHARED CORE</a:t>
            </a:r>
            <a:endParaRPr lang="vi-VN"/>
          </a:p>
        </p:txBody>
      </p:sp>
      <p:sp>
        <p:nvSpPr>
          <p:cNvPr id="11" name="Text 11"/>
          <p:cNvSpPr txBox="1"/>
          <p:nvPr/>
        </p:nvSpPr>
        <p:spPr>
          <a:xfrm>
            <a:off x="2295144" y="1536192"/>
            <a:ext cx="8924544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17233B"/>
                </a:solidFill>
                <a:latin typeface="Aptos"/>
              </a:rPr>
              <a:t>SigLIP2Encoder · MilvusSearchService · pipeline.run_search()</a:t>
            </a:r>
            <a:endParaRPr lang="vi-VN"/>
          </a:p>
        </p:txBody>
      </p:sp>
      <p:sp>
        <p:nvSpPr>
          <p:cNvPr id="12" name="Text 12"/>
          <p:cNvSpPr txBox="1"/>
          <p:nvPr/>
        </p:nvSpPr>
        <p:spPr>
          <a:xfrm>
            <a:off x="2304288" y="1883664"/>
            <a:ext cx="8558784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200">
                <a:solidFill>
                  <a:srgbClr val="596579"/>
                </a:solidFill>
                <a:latin typeface="Aptos"/>
              </a:rPr>
              <a:t>Feedback up/down · traces và spans</a:t>
            </a:r>
            <a:endParaRPr lang="vi-VN"/>
          </a:p>
        </p:txBody>
      </p:sp>
      <p:sp>
        <p:nvSpPr>
          <p:cNvPr id="13" name="Shape 13"/>
          <p:cNvSpPr/>
          <p:nvPr/>
        </p:nvSpPr>
        <p:spPr>
          <a:xfrm>
            <a:off x="557784" y="2423160"/>
            <a:ext cx="11064240" cy="1426464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4" name="Text 14"/>
          <p:cNvSpPr txBox="1"/>
          <p:nvPr/>
        </p:nvSpPr>
        <p:spPr>
          <a:xfrm>
            <a:off x="722376" y="2724912"/>
            <a:ext cx="1005840" cy="28346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600" b="1">
                <a:solidFill>
                  <a:srgbClr val="2563EB"/>
                </a:solidFill>
                <a:latin typeface="Aptos"/>
              </a:rPr>
              <a:t>MANUAL</a:t>
            </a:r>
            <a:endParaRPr lang="vi-VN"/>
          </a:p>
        </p:txBody>
      </p:sp>
      <p:sp>
        <p:nvSpPr>
          <p:cNvPr id="15" name="Text 15"/>
          <p:cNvSpPr txBox="1"/>
          <p:nvPr/>
        </p:nvSpPr>
        <p:spPr>
          <a:xfrm>
            <a:off x="722376" y="3090672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100">
                <a:solidFill>
                  <a:srgbClr val="596579"/>
                </a:solidFill>
                <a:latin typeface="Aptos"/>
              </a:rPr>
              <a:t>/api/v1/vqa</a:t>
            </a:r>
            <a:endParaRPr lang="vi-VN"/>
          </a:p>
        </p:txBody>
      </p:sp>
      <p:sp>
        <p:nvSpPr>
          <p:cNvPr id="16" name="Shape 16"/>
          <p:cNvSpPr/>
          <p:nvPr/>
        </p:nvSpPr>
        <p:spPr>
          <a:xfrm>
            <a:off x="1746504" y="2715768"/>
            <a:ext cx="1417320" cy="859536"/>
          </a:xfrm>
          <a:prstGeom prst="roundRect">
            <a:avLst/>
          </a:prstGeom>
          <a:solidFill>
            <a:srgbClr val="FFFFFF"/>
          </a:solidFill>
          <a:ln w="10973">
            <a:solidFill>
              <a:srgbClr val="D8E2EF"/>
            </a:solidFill>
          </a:ln>
        </p:spPr>
      </p:sp>
      <p:sp>
        <p:nvSpPr>
          <p:cNvPr id="17" name="Shape 17"/>
          <p:cNvSpPr/>
          <p:nvPr/>
        </p:nvSpPr>
        <p:spPr>
          <a:xfrm>
            <a:off x="1746504" y="2715768"/>
            <a:ext cx="50292" cy="85953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1865376" y="2880360"/>
            <a:ext cx="1197864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 b="1">
                <a:solidFill>
                  <a:srgbClr val="2563EB"/>
                </a:solidFill>
                <a:latin typeface="Aptos"/>
              </a:rPr>
              <a:t>S1–S2 · QE v2</a:t>
            </a:r>
            <a:endParaRPr lang="vi-VN"/>
          </a:p>
        </p:txBody>
      </p:sp>
      <p:sp>
        <p:nvSpPr>
          <p:cNvPr id="19" name="Text 19"/>
          <p:cNvSpPr txBox="1"/>
          <p:nvPr/>
        </p:nvSpPr>
        <p:spPr>
          <a:xfrm>
            <a:off x="1865376" y="3218688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100">
                <a:solidFill>
                  <a:srgbClr val="596579"/>
                </a:solidFill>
                <a:latin typeface="Aptos"/>
              </a:rPr>
              <a:t>QueryPlan</a:t>
            </a:r>
            <a:endParaRPr lang="vi-VN"/>
          </a:p>
        </p:txBody>
      </p:sp>
      <p:sp>
        <p:nvSpPr>
          <p:cNvPr id="20" name="Text 20"/>
          <p:cNvSpPr txBox="1"/>
          <p:nvPr/>
        </p:nvSpPr>
        <p:spPr>
          <a:xfrm>
            <a:off x="3209544" y="2953512"/>
            <a:ext cx="146304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vi-VN" sz="1900" b="1">
                <a:solidFill>
                  <a:srgbClr val="2563EB"/>
                </a:solidFill>
                <a:latin typeface="Aptos"/>
              </a:rPr>
              <a:t>→</a:t>
            </a:r>
            <a:endParaRPr lang="vi-VN"/>
          </a:p>
        </p:txBody>
      </p:sp>
      <p:sp>
        <p:nvSpPr>
          <p:cNvPr id="21" name="Shape 21"/>
          <p:cNvSpPr/>
          <p:nvPr/>
        </p:nvSpPr>
        <p:spPr>
          <a:xfrm>
            <a:off x="3374136" y="2715768"/>
            <a:ext cx="1417320" cy="859536"/>
          </a:xfrm>
          <a:prstGeom prst="roundRect">
            <a:avLst/>
          </a:prstGeom>
          <a:solidFill>
            <a:srgbClr val="FFFFFF"/>
          </a:solidFill>
          <a:ln w="10973">
            <a:solidFill>
              <a:srgbClr val="D8E2EF"/>
            </a:solidFill>
          </a:ln>
        </p:spPr>
      </p:sp>
      <p:sp>
        <p:nvSpPr>
          <p:cNvPr id="22" name="Shape 22"/>
          <p:cNvSpPr/>
          <p:nvPr/>
        </p:nvSpPr>
        <p:spPr>
          <a:xfrm>
            <a:off x="3374136" y="2715768"/>
            <a:ext cx="50292" cy="85953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3493008" y="2880360"/>
            <a:ext cx="1197864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 b="1">
                <a:solidFill>
                  <a:srgbClr val="2563EB"/>
                </a:solidFill>
                <a:latin typeface="Aptos"/>
              </a:rPr>
              <a:t>S3 · search</a:t>
            </a:r>
            <a:endParaRPr lang="vi-VN"/>
          </a:p>
        </p:txBody>
      </p:sp>
      <p:sp>
        <p:nvSpPr>
          <p:cNvPr id="24" name="Text 24"/>
          <p:cNvSpPr txBox="1"/>
          <p:nvPr/>
        </p:nvSpPr>
        <p:spPr>
          <a:xfrm>
            <a:off x="3493008" y="3218688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100">
                <a:solidFill>
                  <a:srgbClr val="596579"/>
                </a:solidFill>
                <a:latin typeface="Aptos"/>
              </a:rPr>
              <a:t>variants + RRF</a:t>
            </a:r>
            <a:endParaRPr lang="vi-VN"/>
          </a:p>
        </p:txBody>
      </p:sp>
      <p:sp>
        <p:nvSpPr>
          <p:cNvPr id="25" name="Text 25"/>
          <p:cNvSpPr txBox="1"/>
          <p:nvPr/>
        </p:nvSpPr>
        <p:spPr>
          <a:xfrm>
            <a:off x="4837176" y="2953512"/>
            <a:ext cx="146304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vi-VN" sz="1900" b="1">
                <a:solidFill>
                  <a:srgbClr val="2563EB"/>
                </a:solidFill>
                <a:latin typeface="Aptos"/>
              </a:rPr>
              <a:t>→</a:t>
            </a:r>
            <a:endParaRPr lang="vi-VN"/>
          </a:p>
        </p:txBody>
      </p:sp>
      <p:sp>
        <p:nvSpPr>
          <p:cNvPr id="26" name="Shape 26"/>
          <p:cNvSpPr/>
          <p:nvPr/>
        </p:nvSpPr>
        <p:spPr>
          <a:xfrm>
            <a:off x="5001768" y="2715768"/>
            <a:ext cx="1417320" cy="859536"/>
          </a:xfrm>
          <a:prstGeom prst="roundRect">
            <a:avLst/>
          </a:prstGeom>
          <a:solidFill>
            <a:srgbClr val="FFFFFF"/>
          </a:solidFill>
          <a:ln w="10973">
            <a:solidFill>
              <a:srgbClr val="D8E2EF"/>
            </a:solidFill>
          </a:ln>
        </p:spPr>
      </p:sp>
      <p:sp>
        <p:nvSpPr>
          <p:cNvPr id="27" name="Shape 27"/>
          <p:cNvSpPr/>
          <p:nvPr/>
        </p:nvSpPr>
        <p:spPr>
          <a:xfrm>
            <a:off x="5001768" y="2715768"/>
            <a:ext cx="50292" cy="85953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5120640" y="2880360"/>
            <a:ext cx="1197864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 b="1">
                <a:solidFill>
                  <a:srgbClr val="2563EB"/>
                </a:solidFill>
                <a:latin typeface="Aptos"/>
              </a:rPr>
              <a:t>S4 · boost</a:t>
            </a:r>
            <a:endParaRPr lang="vi-VN"/>
          </a:p>
        </p:txBody>
      </p:sp>
      <p:sp>
        <p:nvSpPr>
          <p:cNvPr id="29" name="Text 29"/>
          <p:cNvSpPr txBox="1"/>
          <p:nvPr/>
        </p:nvSpPr>
        <p:spPr>
          <a:xfrm>
            <a:off x="5120640" y="3218688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100">
                <a:solidFill>
                  <a:srgbClr val="596579"/>
                </a:solidFill>
                <a:latin typeface="Aptos"/>
              </a:rPr>
              <a:t>metadata</a:t>
            </a:r>
            <a:endParaRPr lang="vi-VN"/>
          </a:p>
        </p:txBody>
      </p:sp>
      <p:sp>
        <p:nvSpPr>
          <p:cNvPr id="30" name="Text 30"/>
          <p:cNvSpPr txBox="1"/>
          <p:nvPr/>
        </p:nvSpPr>
        <p:spPr>
          <a:xfrm>
            <a:off x="6464808" y="2953512"/>
            <a:ext cx="146304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vi-VN" sz="1900" b="1">
                <a:solidFill>
                  <a:srgbClr val="2563EB"/>
                </a:solidFill>
                <a:latin typeface="Aptos"/>
              </a:rPr>
              <a:t>→</a:t>
            </a:r>
            <a:endParaRPr lang="vi-VN"/>
          </a:p>
        </p:txBody>
      </p:sp>
      <p:sp>
        <p:nvSpPr>
          <p:cNvPr id="31" name="Shape 31"/>
          <p:cNvSpPr/>
          <p:nvPr/>
        </p:nvSpPr>
        <p:spPr>
          <a:xfrm>
            <a:off x="6629400" y="2715768"/>
            <a:ext cx="1417320" cy="859536"/>
          </a:xfrm>
          <a:prstGeom prst="roundRect">
            <a:avLst/>
          </a:prstGeom>
          <a:solidFill>
            <a:srgbClr val="FFFFFF"/>
          </a:solidFill>
          <a:ln w="10973">
            <a:solidFill>
              <a:srgbClr val="D8E2EF"/>
            </a:solidFill>
          </a:ln>
        </p:spPr>
      </p:sp>
      <p:sp>
        <p:nvSpPr>
          <p:cNvPr id="32" name="Shape 32"/>
          <p:cNvSpPr/>
          <p:nvPr/>
        </p:nvSpPr>
        <p:spPr>
          <a:xfrm>
            <a:off x="6629400" y="2715768"/>
            <a:ext cx="50292" cy="85953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6748272" y="2880360"/>
            <a:ext cx="1197864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 b="1">
                <a:solidFill>
                  <a:srgbClr val="2563EB"/>
                </a:solidFill>
                <a:latin typeface="Aptos"/>
              </a:rPr>
              <a:t>S5 · temporal</a:t>
            </a:r>
            <a:endParaRPr lang="vi-VN"/>
          </a:p>
        </p:txBody>
      </p:sp>
      <p:sp>
        <p:nvSpPr>
          <p:cNvPr id="34" name="Text 34"/>
          <p:cNvSpPr txBox="1"/>
          <p:nvPr/>
        </p:nvSpPr>
        <p:spPr>
          <a:xfrm>
            <a:off x="6748272" y="3218688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100">
                <a:solidFill>
                  <a:srgbClr val="596579"/>
                </a:solidFill>
                <a:latin typeface="Aptos"/>
              </a:rPr>
              <a:t>chuỗi sự kiện</a:t>
            </a:r>
            <a:endParaRPr lang="vi-VN"/>
          </a:p>
        </p:txBody>
      </p:sp>
      <p:sp>
        <p:nvSpPr>
          <p:cNvPr id="35" name="Text 35"/>
          <p:cNvSpPr txBox="1"/>
          <p:nvPr/>
        </p:nvSpPr>
        <p:spPr>
          <a:xfrm>
            <a:off x="8092440" y="2953512"/>
            <a:ext cx="146304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vi-VN" sz="1900" b="1">
                <a:solidFill>
                  <a:srgbClr val="2563EB"/>
                </a:solidFill>
                <a:latin typeface="Aptos"/>
              </a:rPr>
              <a:t>→</a:t>
            </a:r>
            <a:endParaRPr lang="vi-VN"/>
          </a:p>
        </p:txBody>
      </p:sp>
      <p:sp>
        <p:nvSpPr>
          <p:cNvPr id="36" name="Shape 36"/>
          <p:cNvSpPr/>
          <p:nvPr/>
        </p:nvSpPr>
        <p:spPr>
          <a:xfrm>
            <a:off x="8257032" y="2715768"/>
            <a:ext cx="1417320" cy="859536"/>
          </a:xfrm>
          <a:prstGeom prst="roundRect">
            <a:avLst/>
          </a:prstGeom>
          <a:solidFill>
            <a:srgbClr val="FFFFFF"/>
          </a:solidFill>
          <a:ln w="10973">
            <a:solidFill>
              <a:srgbClr val="D8E2EF"/>
            </a:solidFill>
          </a:ln>
        </p:spPr>
      </p:sp>
      <p:sp>
        <p:nvSpPr>
          <p:cNvPr id="37" name="Shape 37"/>
          <p:cNvSpPr/>
          <p:nvPr/>
        </p:nvSpPr>
        <p:spPr>
          <a:xfrm>
            <a:off x="8257032" y="2715768"/>
            <a:ext cx="50292" cy="85953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8" name="Text 38"/>
          <p:cNvSpPr txBox="1"/>
          <p:nvPr/>
        </p:nvSpPr>
        <p:spPr>
          <a:xfrm>
            <a:off x="8375904" y="2880360"/>
            <a:ext cx="1197864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 b="1">
                <a:solidFill>
                  <a:srgbClr val="2563EB"/>
                </a:solidFill>
                <a:latin typeface="Aptos"/>
              </a:rPr>
              <a:t>S6 · rerank</a:t>
            </a:r>
            <a:endParaRPr lang="vi-VN"/>
          </a:p>
        </p:txBody>
      </p:sp>
      <p:sp>
        <p:nvSpPr>
          <p:cNvPr id="39" name="Text 39"/>
          <p:cNvSpPr txBox="1"/>
          <p:nvPr/>
        </p:nvSpPr>
        <p:spPr>
          <a:xfrm>
            <a:off x="8375904" y="3218688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100">
                <a:solidFill>
                  <a:srgbClr val="596579"/>
                </a:solidFill>
                <a:latin typeface="Aptos"/>
              </a:rPr>
              <a:t>MLLM listwise</a:t>
            </a:r>
            <a:endParaRPr lang="vi-VN"/>
          </a:p>
        </p:txBody>
      </p:sp>
      <p:sp>
        <p:nvSpPr>
          <p:cNvPr id="40" name="Text 40"/>
          <p:cNvSpPr txBox="1"/>
          <p:nvPr/>
        </p:nvSpPr>
        <p:spPr>
          <a:xfrm>
            <a:off x="9720072" y="2953512"/>
            <a:ext cx="146304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vi-VN" sz="1900" b="1">
                <a:solidFill>
                  <a:srgbClr val="2563EB"/>
                </a:solidFill>
                <a:latin typeface="Aptos"/>
              </a:rPr>
              <a:t>→</a:t>
            </a:r>
            <a:endParaRPr lang="vi-VN"/>
          </a:p>
        </p:txBody>
      </p:sp>
      <p:sp>
        <p:nvSpPr>
          <p:cNvPr id="41" name="Shape 41"/>
          <p:cNvSpPr/>
          <p:nvPr/>
        </p:nvSpPr>
        <p:spPr>
          <a:xfrm>
            <a:off x="9884664" y="2715768"/>
            <a:ext cx="1417320" cy="859536"/>
          </a:xfrm>
          <a:prstGeom prst="roundRect">
            <a:avLst/>
          </a:prstGeom>
          <a:solidFill>
            <a:srgbClr val="FFFFFF"/>
          </a:solidFill>
          <a:ln w="10973">
            <a:solidFill>
              <a:srgbClr val="D8E2EF"/>
            </a:solidFill>
          </a:ln>
        </p:spPr>
      </p:sp>
      <p:sp>
        <p:nvSpPr>
          <p:cNvPr id="42" name="Shape 42"/>
          <p:cNvSpPr/>
          <p:nvPr/>
        </p:nvSpPr>
        <p:spPr>
          <a:xfrm>
            <a:off x="9884664" y="2715768"/>
            <a:ext cx="50292" cy="85953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3" name="Text 43"/>
          <p:cNvSpPr txBox="1"/>
          <p:nvPr/>
        </p:nvSpPr>
        <p:spPr>
          <a:xfrm>
            <a:off x="10003536" y="2880360"/>
            <a:ext cx="1197864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 b="1">
                <a:solidFill>
                  <a:srgbClr val="2563EB"/>
                </a:solidFill>
                <a:latin typeface="Aptos"/>
              </a:rPr>
              <a:t>S7 · VQA</a:t>
            </a:r>
            <a:endParaRPr lang="vi-VN"/>
          </a:p>
        </p:txBody>
      </p:sp>
      <p:sp>
        <p:nvSpPr>
          <p:cNvPr id="44" name="Text 44"/>
          <p:cNvSpPr txBox="1"/>
          <p:nvPr/>
        </p:nvSpPr>
        <p:spPr>
          <a:xfrm>
            <a:off x="10003536" y="3218688"/>
            <a:ext cx="1197864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100">
                <a:solidFill>
                  <a:srgbClr val="596579"/>
                </a:solidFill>
                <a:latin typeface="Aptos"/>
              </a:rPr>
              <a:t>one-shot answer</a:t>
            </a:r>
            <a:endParaRPr lang="vi-VN"/>
          </a:p>
        </p:txBody>
      </p:sp>
      <p:sp>
        <p:nvSpPr>
          <p:cNvPr id="45" name="Shape 45"/>
          <p:cNvSpPr/>
          <p:nvPr/>
        </p:nvSpPr>
        <p:spPr>
          <a:xfrm>
            <a:off x="557784" y="4105656"/>
            <a:ext cx="11064240" cy="1426464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46" name="Text 46"/>
          <p:cNvSpPr txBox="1"/>
          <p:nvPr/>
        </p:nvSpPr>
        <p:spPr>
          <a:xfrm>
            <a:off x="722376" y="4407408"/>
            <a:ext cx="1014984" cy="28346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600" b="1">
                <a:solidFill>
                  <a:srgbClr val="0F9E90"/>
                </a:solidFill>
                <a:latin typeface="Aptos"/>
              </a:rPr>
              <a:t>AGENTIC</a:t>
            </a:r>
            <a:endParaRPr lang="vi-VN"/>
          </a:p>
        </p:txBody>
      </p:sp>
      <p:sp>
        <p:nvSpPr>
          <p:cNvPr id="47" name="Text 47"/>
          <p:cNvSpPr txBox="1"/>
          <p:nvPr/>
        </p:nvSpPr>
        <p:spPr>
          <a:xfrm>
            <a:off x="722376" y="4773168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100">
                <a:solidFill>
                  <a:srgbClr val="596579"/>
                </a:solidFill>
                <a:latin typeface="Aptos"/>
              </a:rPr>
              <a:t>/api/v1/chat</a:t>
            </a:r>
            <a:endParaRPr lang="vi-VN"/>
          </a:p>
        </p:txBody>
      </p:sp>
      <p:sp>
        <p:nvSpPr>
          <p:cNvPr id="48" name="Shape 48"/>
          <p:cNvSpPr/>
          <p:nvPr/>
        </p:nvSpPr>
        <p:spPr>
          <a:xfrm>
            <a:off x="1865376" y="4389120"/>
            <a:ext cx="2103120" cy="859536"/>
          </a:xfrm>
          <a:prstGeom prst="roundRect">
            <a:avLst/>
          </a:prstGeom>
          <a:solidFill>
            <a:srgbClr val="FFFFFF"/>
          </a:solidFill>
          <a:ln w="10973">
            <a:solidFill>
              <a:srgbClr val="D8E2EF"/>
            </a:solidFill>
          </a:ln>
        </p:spPr>
      </p:sp>
      <p:sp>
        <p:nvSpPr>
          <p:cNvPr id="49" name="Shape 49"/>
          <p:cNvSpPr/>
          <p:nvPr/>
        </p:nvSpPr>
        <p:spPr>
          <a:xfrm>
            <a:off x="1865376" y="4389120"/>
            <a:ext cx="50292" cy="859536"/>
          </a:xfrm>
          <a:prstGeom prst="rect">
            <a:avLst/>
          </a:prstGeom>
          <a:solidFill>
            <a:srgbClr val="0F9E90"/>
          </a:solidFill>
          <a:ln>
            <a:noFill/>
          </a:ln>
        </p:spPr>
      </p:sp>
      <p:sp>
        <p:nvSpPr>
          <p:cNvPr id="50" name="Text 50"/>
          <p:cNvSpPr txBox="1"/>
          <p:nvPr/>
        </p:nvSpPr>
        <p:spPr>
          <a:xfrm>
            <a:off x="1984248" y="4553712"/>
            <a:ext cx="1883664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 b="1">
                <a:solidFill>
                  <a:srgbClr val="0F9E90"/>
                </a:solidFill>
                <a:latin typeface="Aptos"/>
              </a:rPr>
              <a:t>ReAct reasoning</a:t>
            </a:r>
            <a:endParaRPr lang="vi-VN"/>
          </a:p>
        </p:txBody>
      </p:sp>
      <p:sp>
        <p:nvSpPr>
          <p:cNvPr id="51" name="Text 51"/>
          <p:cNvSpPr txBox="1"/>
          <p:nvPr/>
        </p:nvSpPr>
        <p:spPr>
          <a:xfrm>
            <a:off x="1984248" y="4892040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100">
                <a:solidFill>
                  <a:srgbClr val="596579"/>
                </a:solidFill>
                <a:latin typeface="Aptos"/>
              </a:rPr>
              <a:t>chọn tool tiếp theo</a:t>
            </a:r>
            <a:endParaRPr lang="vi-VN"/>
          </a:p>
        </p:txBody>
      </p:sp>
      <p:sp>
        <p:nvSpPr>
          <p:cNvPr id="52" name="Text 52"/>
          <p:cNvSpPr txBox="1"/>
          <p:nvPr/>
        </p:nvSpPr>
        <p:spPr>
          <a:xfrm>
            <a:off x="4041648" y="4626864"/>
            <a:ext cx="201168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vi-VN" sz="2100" b="1">
                <a:solidFill>
                  <a:srgbClr val="0F9E90"/>
                </a:solidFill>
                <a:latin typeface="Aptos"/>
              </a:rPr>
              <a:t>→</a:t>
            </a:r>
            <a:endParaRPr lang="vi-VN"/>
          </a:p>
        </p:txBody>
      </p:sp>
      <p:sp>
        <p:nvSpPr>
          <p:cNvPr id="53" name="Shape 53"/>
          <p:cNvSpPr/>
          <p:nvPr/>
        </p:nvSpPr>
        <p:spPr>
          <a:xfrm>
            <a:off x="4315968" y="4389120"/>
            <a:ext cx="2103120" cy="859536"/>
          </a:xfrm>
          <a:prstGeom prst="roundRect">
            <a:avLst/>
          </a:prstGeom>
          <a:solidFill>
            <a:srgbClr val="FFFFFF"/>
          </a:solidFill>
          <a:ln w="10973">
            <a:solidFill>
              <a:srgbClr val="D8E2EF"/>
            </a:solidFill>
          </a:ln>
        </p:spPr>
      </p:sp>
      <p:sp>
        <p:nvSpPr>
          <p:cNvPr id="54" name="Shape 54"/>
          <p:cNvSpPr/>
          <p:nvPr/>
        </p:nvSpPr>
        <p:spPr>
          <a:xfrm>
            <a:off x="4315968" y="4389120"/>
            <a:ext cx="50292" cy="859536"/>
          </a:xfrm>
          <a:prstGeom prst="rect">
            <a:avLst/>
          </a:prstGeom>
          <a:solidFill>
            <a:srgbClr val="0F9E90"/>
          </a:solidFill>
          <a:ln>
            <a:noFill/>
          </a:ln>
        </p:spPr>
      </p:sp>
      <p:sp>
        <p:nvSpPr>
          <p:cNvPr id="55" name="Text 55"/>
          <p:cNvSpPr txBox="1"/>
          <p:nvPr/>
        </p:nvSpPr>
        <p:spPr>
          <a:xfrm>
            <a:off x="4434840" y="4553712"/>
            <a:ext cx="1883664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 b="1">
                <a:solidFill>
                  <a:srgbClr val="0F9E90"/>
                </a:solidFill>
                <a:latin typeface="Aptos"/>
              </a:rPr>
              <a:t>search / events</a:t>
            </a:r>
            <a:endParaRPr lang="vi-VN"/>
          </a:p>
        </p:txBody>
      </p:sp>
      <p:sp>
        <p:nvSpPr>
          <p:cNvPr id="56" name="Text 56"/>
          <p:cNvSpPr txBox="1"/>
          <p:nvPr/>
        </p:nvSpPr>
        <p:spPr>
          <a:xfrm>
            <a:off x="4434840" y="4892040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100">
                <a:solidFill>
                  <a:srgbClr val="596579"/>
                </a:solidFill>
                <a:latin typeface="Aptos"/>
              </a:rPr>
              <a:t>dense · RRF · temporal</a:t>
            </a:r>
            <a:endParaRPr lang="vi-VN"/>
          </a:p>
        </p:txBody>
      </p:sp>
      <p:sp>
        <p:nvSpPr>
          <p:cNvPr id="57" name="Text 57"/>
          <p:cNvSpPr txBox="1"/>
          <p:nvPr/>
        </p:nvSpPr>
        <p:spPr>
          <a:xfrm>
            <a:off x="6492240" y="4626864"/>
            <a:ext cx="201168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vi-VN" sz="2100" b="1">
                <a:solidFill>
                  <a:srgbClr val="0F9E90"/>
                </a:solidFill>
                <a:latin typeface="Aptos"/>
              </a:rPr>
              <a:t>→</a:t>
            </a:r>
            <a:endParaRPr lang="vi-VN"/>
          </a:p>
        </p:txBody>
      </p:sp>
      <p:sp>
        <p:nvSpPr>
          <p:cNvPr id="58" name="Shape 58"/>
          <p:cNvSpPr/>
          <p:nvPr/>
        </p:nvSpPr>
        <p:spPr>
          <a:xfrm>
            <a:off x="6766560" y="4389120"/>
            <a:ext cx="2103120" cy="859536"/>
          </a:xfrm>
          <a:prstGeom prst="roundRect">
            <a:avLst/>
          </a:prstGeom>
          <a:solidFill>
            <a:srgbClr val="FFFFFF"/>
          </a:solidFill>
          <a:ln w="10973">
            <a:solidFill>
              <a:srgbClr val="D8E2EF"/>
            </a:solidFill>
          </a:ln>
        </p:spPr>
      </p:sp>
      <p:sp>
        <p:nvSpPr>
          <p:cNvPr id="59" name="Shape 59"/>
          <p:cNvSpPr/>
          <p:nvPr/>
        </p:nvSpPr>
        <p:spPr>
          <a:xfrm>
            <a:off x="6766560" y="4389120"/>
            <a:ext cx="50292" cy="859536"/>
          </a:xfrm>
          <a:prstGeom prst="rect">
            <a:avLst/>
          </a:prstGeom>
          <a:solidFill>
            <a:srgbClr val="0F9E90"/>
          </a:solidFill>
          <a:ln>
            <a:noFill/>
          </a:ln>
        </p:spPr>
      </p:sp>
      <p:sp>
        <p:nvSpPr>
          <p:cNvPr id="60" name="Text 60"/>
          <p:cNvSpPr txBox="1"/>
          <p:nvPr/>
        </p:nvSpPr>
        <p:spPr>
          <a:xfrm>
            <a:off x="6885432" y="4553712"/>
            <a:ext cx="1883664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 b="1">
                <a:solidFill>
                  <a:srgbClr val="0F9E90"/>
                </a:solidFill>
                <a:latin typeface="Aptos"/>
              </a:rPr>
              <a:t>look / neighbors</a:t>
            </a:r>
            <a:endParaRPr lang="vi-VN"/>
          </a:p>
        </p:txBody>
      </p:sp>
      <p:sp>
        <p:nvSpPr>
          <p:cNvPr id="61" name="Text 61"/>
          <p:cNvSpPr txBox="1"/>
          <p:nvPr/>
        </p:nvSpPr>
        <p:spPr>
          <a:xfrm>
            <a:off x="6885432" y="4892040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100">
                <a:solidFill>
                  <a:srgbClr val="596579"/>
                </a:solidFill>
                <a:latin typeface="Aptos"/>
              </a:rPr>
              <a:t>VLM · crop · context</a:t>
            </a:r>
            <a:endParaRPr lang="vi-VN"/>
          </a:p>
        </p:txBody>
      </p:sp>
      <p:sp>
        <p:nvSpPr>
          <p:cNvPr id="62" name="Text 62"/>
          <p:cNvSpPr txBox="1"/>
          <p:nvPr/>
        </p:nvSpPr>
        <p:spPr>
          <a:xfrm>
            <a:off x="8942832" y="4626864"/>
            <a:ext cx="201168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tr"/>
            <a:r>
              <a:rPr lang="vi-VN" sz="2100" b="1">
                <a:solidFill>
                  <a:srgbClr val="0F9E90"/>
                </a:solidFill>
                <a:latin typeface="Aptos"/>
              </a:rPr>
              <a:t>→</a:t>
            </a:r>
            <a:endParaRPr lang="vi-VN"/>
          </a:p>
        </p:txBody>
      </p:sp>
      <p:sp>
        <p:nvSpPr>
          <p:cNvPr id="63" name="Shape 63"/>
          <p:cNvSpPr/>
          <p:nvPr/>
        </p:nvSpPr>
        <p:spPr>
          <a:xfrm>
            <a:off x="9217152" y="4389120"/>
            <a:ext cx="2103120" cy="859536"/>
          </a:xfrm>
          <a:prstGeom prst="roundRect">
            <a:avLst/>
          </a:prstGeom>
          <a:solidFill>
            <a:srgbClr val="FFFFFF"/>
          </a:solidFill>
          <a:ln w="10973">
            <a:solidFill>
              <a:srgbClr val="D8E2EF"/>
            </a:solidFill>
          </a:ln>
        </p:spPr>
      </p:sp>
      <p:sp>
        <p:nvSpPr>
          <p:cNvPr id="64" name="Shape 64"/>
          <p:cNvSpPr/>
          <p:nvPr/>
        </p:nvSpPr>
        <p:spPr>
          <a:xfrm>
            <a:off x="9217152" y="4389120"/>
            <a:ext cx="50292" cy="859536"/>
          </a:xfrm>
          <a:prstGeom prst="rect">
            <a:avLst/>
          </a:prstGeom>
          <a:solidFill>
            <a:srgbClr val="0F9E90"/>
          </a:solidFill>
          <a:ln>
            <a:noFill/>
          </a:ln>
        </p:spPr>
      </p:sp>
      <p:sp>
        <p:nvSpPr>
          <p:cNvPr id="65" name="Text 65"/>
          <p:cNvSpPr txBox="1"/>
          <p:nvPr/>
        </p:nvSpPr>
        <p:spPr>
          <a:xfrm>
            <a:off x="9336024" y="4553712"/>
            <a:ext cx="1883664" cy="26517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 b="1">
                <a:solidFill>
                  <a:srgbClr val="0F9E90"/>
                </a:solidFill>
                <a:latin typeface="Aptos"/>
              </a:rPr>
              <a:t>final_answer</a:t>
            </a:r>
            <a:endParaRPr lang="vi-VN"/>
          </a:p>
        </p:txBody>
      </p:sp>
      <p:sp>
        <p:nvSpPr>
          <p:cNvPr id="66" name="Text 66"/>
          <p:cNvSpPr txBox="1"/>
          <p:nvPr/>
        </p:nvSpPr>
        <p:spPr>
          <a:xfrm>
            <a:off x="9336024" y="4892040"/>
            <a:ext cx="1883664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100">
                <a:solidFill>
                  <a:srgbClr val="596579"/>
                </a:solidFill>
                <a:latin typeface="Aptos"/>
              </a:rPr>
              <a:t>guard → SSE stream</a:t>
            </a:r>
            <a:endParaRPr lang="vi-VN"/>
          </a:p>
        </p:txBody>
      </p:sp>
      <p:sp>
        <p:nvSpPr>
          <p:cNvPr id="67" name="Text 67"/>
          <p:cNvSpPr txBox="1"/>
          <p:nvPr/>
        </p:nvSpPr>
        <p:spPr>
          <a:xfrm>
            <a:off x="740664" y="5888736"/>
            <a:ext cx="108356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>
                <a:solidFill>
                  <a:srgbClr val="17233B"/>
                </a:solidFill>
                <a:latin typeface="Aptos"/>
              </a:rPr>
              <a:t>Agentic tự search và xem frame; one-shot Manual chạy pipeline S1–S7 một lần.</a:t>
            </a:r>
            <a:endParaRPr lang="vi-V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438912" y="21945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000" b="1">
                <a:solidFill>
                  <a:srgbClr val="0F9E90"/>
                </a:solidFill>
                <a:latin typeface="Aptos"/>
              </a:rPr>
              <a:t>PHƯƠNG PHÁP</a:t>
            </a:r>
            <a:endParaRPr lang="vi-VN"/>
          </a:p>
        </p:txBody>
      </p:sp>
      <p:sp>
        <p:nvSpPr>
          <p:cNvPr id="5" name="Text 5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2800" b="1">
                <a:solidFill>
                  <a:srgbClr val="17233B"/>
                </a:solidFill>
                <a:latin typeface="Aptos"/>
              </a:rPr>
              <a:t>One-shot VQA: ảnh + OCR</a:t>
            </a:r>
            <a:endParaRPr lang="vi-VN"/>
          </a:p>
        </p:txBody>
      </p:sp>
      <p:sp>
        <p:nvSpPr>
          <p:cNvPr id="6" name="Shape 6"/>
          <p:cNvSpPr/>
          <p:nvPr/>
        </p:nvSpPr>
        <p:spPr>
          <a:xfrm>
            <a:off x="438912" y="1161288"/>
            <a:ext cx="11292840" cy="13716"/>
          </a:xfrm>
          <a:prstGeom prst="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448056" y="6574536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800">
                <a:solidFill>
                  <a:srgbClr val="596579"/>
                </a:solidFill>
                <a:latin typeface="Aptos"/>
              </a:rPr>
              <a:t>VIDEO RAG  /  AIC 2025</a:t>
            </a:r>
            <a:endParaRPr lang="vi-VN"/>
          </a:p>
        </p:txBody>
      </p:sp>
      <p:sp>
        <p:nvSpPr>
          <p:cNvPr id="8" name="Text 8"/>
          <p:cNvSpPr txBox="1"/>
          <p:nvPr/>
        </p:nvSpPr>
        <p:spPr>
          <a:xfrm>
            <a:off x="11119104" y="652881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000">
                <a:solidFill>
                  <a:srgbClr val="596579"/>
                </a:solidFill>
                <a:latin typeface="Aptos"/>
              </a:rPr>
              <a:t>09</a:t>
            </a:r>
            <a:endParaRPr lang="vi-VN"/>
          </a:p>
        </p:txBody>
      </p:sp>
      <p:pic>
        <p:nvPicPr>
          <p:cNvPr id="9" name="diagram_5.png" descr="Original figure: diagram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1657595"/>
            <a:ext cx="11164824" cy="2591834"/>
          </a:xfrm>
          <a:prstGeom prst="rect">
            <a:avLst/>
          </a:prstGeom>
          <a:ln>
            <a:noFill/>
          </a:ln>
        </p:spPr>
      </p:pic>
      <p:sp>
        <p:nvSpPr>
          <p:cNvPr id="10" name="Shape 10"/>
          <p:cNvSpPr/>
          <p:nvPr/>
        </p:nvSpPr>
        <p:spPr>
          <a:xfrm>
            <a:off x="557784" y="4645152"/>
            <a:ext cx="5468112" cy="1252728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1" name="Shape 11"/>
          <p:cNvSpPr/>
          <p:nvPr/>
        </p:nvSpPr>
        <p:spPr>
          <a:xfrm>
            <a:off x="557784" y="4645152"/>
            <a:ext cx="50292" cy="125272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758952" y="4809744"/>
            <a:ext cx="508406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2563EB"/>
                </a:solidFill>
                <a:latin typeface="Aptos"/>
              </a:rPr>
              <a:t>Evidence</a:t>
            </a:r>
            <a:endParaRPr lang="vi-VN"/>
          </a:p>
        </p:txBody>
      </p:sp>
      <p:sp>
        <p:nvSpPr>
          <p:cNvPr id="13" name="Text 13"/>
          <p:cNvSpPr txBox="1"/>
          <p:nvPr/>
        </p:nvSpPr>
        <p:spPr>
          <a:xfrm>
            <a:off x="758952" y="5266944"/>
            <a:ext cx="5056632" cy="5394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500">
                <a:solidFill>
                  <a:srgbClr val="17233B"/>
                </a:solidFill>
                <a:latin typeface="Aptos"/>
              </a:rPr>
              <a:t>Chọn keyframe từ retrieval; đưa ảnh JPEG và OCR text vào cùng prompt.</a:t>
            </a:r>
            <a:endParaRPr lang="vi-VN"/>
          </a:p>
        </p:txBody>
      </p:sp>
      <p:sp>
        <p:nvSpPr>
          <p:cNvPr id="14" name="Shape 14"/>
          <p:cNvSpPr/>
          <p:nvPr/>
        </p:nvSpPr>
        <p:spPr>
          <a:xfrm>
            <a:off x="6217920" y="4645152"/>
            <a:ext cx="5404104" cy="1252728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5" name="Shape 15"/>
          <p:cNvSpPr/>
          <p:nvPr/>
        </p:nvSpPr>
        <p:spPr>
          <a:xfrm>
            <a:off x="6217920" y="4645152"/>
            <a:ext cx="50292" cy="1252728"/>
          </a:xfrm>
          <a:prstGeom prst="rect">
            <a:avLst/>
          </a:prstGeom>
          <a:solidFill>
            <a:srgbClr val="0F9E90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6419088" y="4809744"/>
            <a:ext cx="5020056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0F9E90"/>
                </a:solidFill>
                <a:latin typeface="Aptos"/>
              </a:rPr>
              <a:t>Guard</a:t>
            </a:r>
            <a:endParaRPr lang="vi-VN"/>
          </a:p>
        </p:txBody>
      </p:sp>
      <p:sp>
        <p:nvSpPr>
          <p:cNvPr id="17" name="Text 17"/>
          <p:cNvSpPr txBox="1"/>
          <p:nvPr/>
        </p:nvSpPr>
        <p:spPr>
          <a:xfrm>
            <a:off x="6419088" y="5266944"/>
            <a:ext cx="4992624" cy="5394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500">
                <a:solidFill>
                  <a:srgbClr val="17233B"/>
                </a:solidFill>
                <a:latin typeface="Aptos"/>
              </a:rPr>
              <a:t>Thiếu evidence → không trả lời; không suy đoán thông tin ngoài frame.</a:t>
            </a:r>
            <a:endParaRPr lang="vi-V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438912" y="21945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000" b="1">
                <a:solidFill>
                  <a:srgbClr val="0F9E90"/>
                </a:solidFill>
                <a:latin typeface="Aptos"/>
              </a:rPr>
              <a:t>PHƯƠNG PHÁP</a:t>
            </a:r>
            <a:endParaRPr lang="vi-VN"/>
          </a:p>
        </p:txBody>
      </p:sp>
      <p:sp>
        <p:nvSpPr>
          <p:cNvPr id="5" name="Text 5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2800" b="1">
                <a:solidFill>
                  <a:srgbClr val="17233B"/>
                </a:solidFill>
                <a:latin typeface="Aptos"/>
              </a:rPr>
              <a:t>Agent ReAct: search → look → guard</a:t>
            </a:r>
            <a:endParaRPr lang="vi-VN"/>
          </a:p>
        </p:txBody>
      </p:sp>
      <p:sp>
        <p:nvSpPr>
          <p:cNvPr id="6" name="Shape 6"/>
          <p:cNvSpPr/>
          <p:nvPr/>
        </p:nvSpPr>
        <p:spPr>
          <a:xfrm>
            <a:off x="438912" y="1161288"/>
            <a:ext cx="11292840" cy="13716"/>
          </a:xfrm>
          <a:prstGeom prst="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448056" y="6574536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800">
                <a:solidFill>
                  <a:srgbClr val="596579"/>
                </a:solidFill>
                <a:latin typeface="Aptos"/>
              </a:rPr>
              <a:t>VIDEO RAG  /  AIC 2025</a:t>
            </a:r>
            <a:endParaRPr lang="vi-VN"/>
          </a:p>
        </p:txBody>
      </p:sp>
      <p:sp>
        <p:nvSpPr>
          <p:cNvPr id="8" name="Text 8"/>
          <p:cNvSpPr txBox="1"/>
          <p:nvPr/>
        </p:nvSpPr>
        <p:spPr>
          <a:xfrm>
            <a:off x="11119104" y="652881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000">
                <a:solidFill>
                  <a:srgbClr val="596579"/>
                </a:solidFill>
                <a:latin typeface="Aptos"/>
              </a:rPr>
              <a:t>10</a:t>
            </a:r>
            <a:endParaRPr lang="vi-VN"/>
          </a:p>
        </p:txBody>
      </p:sp>
      <p:pic>
        <p:nvPicPr>
          <p:cNvPr id="9" name="diagram_6.png" descr="Original figure: diagram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885" y="1316736"/>
            <a:ext cx="9395471" cy="509320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438912" y="21945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000" b="1">
                <a:solidFill>
                  <a:srgbClr val="0F9E90"/>
                </a:solidFill>
                <a:latin typeface="Aptos"/>
              </a:rPr>
              <a:t>TỔNG QUAN</a:t>
            </a:r>
            <a:endParaRPr lang="vi-VN"/>
          </a:p>
        </p:txBody>
      </p:sp>
      <p:sp>
        <p:nvSpPr>
          <p:cNvPr id="5" name="Text 5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2800" b="1">
                <a:solidFill>
                  <a:srgbClr val="17233B"/>
                </a:solidFill>
                <a:latin typeface="Aptos"/>
              </a:rPr>
              <a:t>Kết quả chính của hệ thống</a:t>
            </a:r>
            <a:endParaRPr lang="vi-VN"/>
          </a:p>
        </p:txBody>
      </p:sp>
      <p:sp>
        <p:nvSpPr>
          <p:cNvPr id="6" name="Shape 6"/>
          <p:cNvSpPr/>
          <p:nvPr/>
        </p:nvSpPr>
        <p:spPr>
          <a:xfrm>
            <a:off x="438912" y="1161288"/>
            <a:ext cx="11292840" cy="13716"/>
          </a:xfrm>
          <a:prstGeom prst="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448056" y="6574536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800">
                <a:solidFill>
                  <a:srgbClr val="596579"/>
                </a:solidFill>
                <a:latin typeface="Aptos"/>
              </a:rPr>
              <a:t>VIDEO RAG  /  AIC 2025</a:t>
            </a:r>
            <a:endParaRPr lang="vi-VN"/>
          </a:p>
        </p:txBody>
      </p:sp>
      <p:sp>
        <p:nvSpPr>
          <p:cNvPr id="8" name="Text 8"/>
          <p:cNvSpPr txBox="1"/>
          <p:nvPr/>
        </p:nvSpPr>
        <p:spPr>
          <a:xfrm>
            <a:off x="11119104" y="652881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000">
                <a:solidFill>
                  <a:srgbClr val="596579"/>
                </a:solidFill>
                <a:latin typeface="Aptos"/>
              </a:rPr>
              <a:t>11</a:t>
            </a:r>
            <a:endParaRPr lang="vi-VN"/>
          </a:p>
        </p:txBody>
      </p:sp>
      <p:sp>
        <p:nvSpPr>
          <p:cNvPr id="9" name="Shape 9"/>
          <p:cNvSpPr/>
          <p:nvPr/>
        </p:nvSpPr>
        <p:spPr>
          <a:xfrm>
            <a:off x="502920" y="1536192"/>
            <a:ext cx="3493008" cy="3246120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0" name="Shape 10"/>
          <p:cNvSpPr/>
          <p:nvPr/>
        </p:nvSpPr>
        <p:spPr>
          <a:xfrm>
            <a:off x="502920" y="1536192"/>
            <a:ext cx="50292" cy="3246120"/>
          </a:xfrm>
          <a:prstGeom prst="rect">
            <a:avLst/>
          </a:prstGeom>
          <a:solidFill>
            <a:srgbClr val="0F9E90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704088" y="1700784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0F9E90"/>
                </a:solidFill>
                <a:latin typeface="Aptos"/>
              </a:rPr>
              <a:t>20 QA / 416 qrels</a:t>
            </a:r>
            <a:endParaRPr lang="vi-VN"/>
          </a:p>
        </p:txBody>
      </p:sp>
      <p:sp>
        <p:nvSpPr>
          <p:cNvPr id="12" name="Text 12"/>
          <p:cNvSpPr txBox="1"/>
          <p:nvPr/>
        </p:nvSpPr>
        <p:spPr>
          <a:xfrm>
            <a:off x="704088" y="2157984"/>
            <a:ext cx="3081528" cy="25328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900">
                <a:solidFill>
                  <a:srgbClr val="17233B"/>
                </a:solidFill>
                <a:latin typeface="Aptos"/>
              </a:rPr>
              <a:t>Silver benchmark</a:t>
            </a:r>
            <a:endParaRPr lang="vi-VN"/>
          </a:p>
          <a:p>
            <a:pPr algn="l"/>
            <a:r>
              <a:rPr lang="vi-VN" sz="1900">
                <a:solidFill>
                  <a:srgbClr val="17233B"/>
                </a:solidFill>
                <a:latin typeface="Aptos"/>
              </a:rPr>
              <a:t>14 test • 6 dev</a:t>
            </a:r>
            <a:endParaRPr lang="vi-VN"/>
          </a:p>
          <a:p>
            <a:pPr algn="l"/>
            <a:r>
              <a:rPr lang="vi-VN" sz="1900">
                <a:solidFill>
                  <a:srgbClr val="17233B"/>
                </a:solidFill>
                <a:latin typeface="Aptos"/>
              </a:rPr>
              <a:t>128 / 873 video được quét</a:t>
            </a:r>
            <a:endParaRPr lang="vi-VN"/>
          </a:p>
        </p:txBody>
      </p:sp>
      <p:sp>
        <p:nvSpPr>
          <p:cNvPr id="13" name="Shape 13"/>
          <p:cNvSpPr/>
          <p:nvPr/>
        </p:nvSpPr>
        <p:spPr>
          <a:xfrm>
            <a:off x="4197096" y="1536192"/>
            <a:ext cx="3493008" cy="3246120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4" name="Shape 14"/>
          <p:cNvSpPr/>
          <p:nvPr/>
        </p:nvSpPr>
        <p:spPr>
          <a:xfrm>
            <a:off x="4197096" y="1536192"/>
            <a:ext cx="50292" cy="324612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4398264" y="1700784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2563EB"/>
                </a:solidFill>
                <a:latin typeface="Aptos"/>
              </a:rPr>
              <a:t>0,694</a:t>
            </a:r>
            <a:endParaRPr lang="vi-VN"/>
          </a:p>
        </p:txBody>
      </p:sp>
      <p:sp>
        <p:nvSpPr>
          <p:cNvPr id="16" name="Text 16"/>
          <p:cNvSpPr txBox="1"/>
          <p:nvPr/>
        </p:nvSpPr>
        <p:spPr>
          <a:xfrm>
            <a:off x="4398264" y="2157984"/>
            <a:ext cx="3081528" cy="25328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900">
                <a:solidFill>
                  <a:srgbClr val="17233B"/>
                </a:solidFill>
                <a:latin typeface="Aptos"/>
              </a:rPr>
              <a:t>Visual Context Recall</a:t>
            </a:r>
            <a:endParaRPr lang="vi-VN"/>
          </a:p>
          <a:p>
            <a:pPr algn="l"/>
            <a:r>
              <a:rPr lang="vi-VN" sz="1900">
                <a:solidFill>
                  <a:srgbClr val="17233B"/>
                </a:solidFill>
                <a:latin typeface="Aptos"/>
              </a:rPr>
              <a:t>E8 ReAct agent</a:t>
            </a:r>
            <a:endParaRPr lang="vi-VN"/>
          </a:p>
          <a:p>
            <a:pPr algn="l"/>
            <a:r>
              <a:rPr lang="vi-VN" sz="1900">
                <a:solidFill>
                  <a:srgbClr val="17233B"/>
                </a:solidFill>
                <a:latin typeface="Aptos"/>
              </a:rPr>
              <a:t>Baseline E1: 0,528</a:t>
            </a:r>
            <a:endParaRPr lang="vi-VN"/>
          </a:p>
        </p:txBody>
      </p:sp>
      <p:sp>
        <p:nvSpPr>
          <p:cNvPr id="17" name="Shape 17"/>
          <p:cNvSpPr/>
          <p:nvPr/>
        </p:nvSpPr>
        <p:spPr>
          <a:xfrm>
            <a:off x="7891272" y="1536192"/>
            <a:ext cx="3493008" cy="3246120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8" name="Shape 18"/>
          <p:cNvSpPr/>
          <p:nvPr/>
        </p:nvSpPr>
        <p:spPr>
          <a:xfrm>
            <a:off x="7891272" y="1536192"/>
            <a:ext cx="50292" cy="3246120"/>
          </a:xfrm>
          <a:prstGeom prst="rect">
            <a:avLst/>
          </a:prstGeom>
          <a:solidFill>
            <a:srgbClr val="D88A17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8092440" y="1700784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D88A17"/>
                </a:solidFill>
                <a:latin typeface="Aptos"/>
              </a:rPr>
              <a:t>0,929</a:t>
            </a:r>
            <a:endParaRPr lang="vi-VN"/>
          </a:p>
        </p:txBody>
      </p:sp>
      <p:sp>
        <p:nvSpPr>
          <p:cNvPr id="20" name="Text 20"/>
          <p:cNvSpPr txBox="1"/>
          <p:nvPr/>
        </p:nvSpPr>
        <p:spPr>
          <a:xfrm>
            <a:off x="8092440" y="2157984"/>
            <a:ext cx="3081528" cy="25328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900">
                <a:solidFill>
                  <a:srgbClr val="17233B"/>
                </a:solidFill>
                <a:latin typeface="Aptos"/>
              </a:rPr>
              <a:t>Faithfulness nhị phân</a:t>
            </a:r>
            <a:endParaRPr lang="vi-VN"/>
          </a:p>
          <a:p>
            <a:pPr algn="l"/>
            <a:r>
              <a:rPr lang="vi-VN" sz="1900">
                <a:solidFill>
                  <a:srgbClr val="17233B"/>
                </a:solidFill>
                <a:latin typeface="Aptos"/>
              </a:rPr>
              <a:t>E8 ReAct agent</a:t>
            </a:r>
            <a:endParaRPr lang="vi-VN"/>
          </a:p>
          <a:p>
            <a:pPr algn="l"/>
            <a:r>
              <a:rPr lang="vi-VN" sz="1900">
                <a:solidFill>
                  <a:srgbClr val="17233B"/>
                </a:solidFill>
                <a:latin typeface="Aptos"/>
              </a:rPr>
              <a:t>Latency p50: 54,5 s</a:t>
            </a:r>
            <a:endParaRPr lang="vi-VN"/>
          </a:p>
        </p:txBody>
      </p:sp>
      <p:sp>
        <p:nvSpPr>
          <p:cNvPr id="21" name="Text 21"/>
          <p:cNvSpPr txBox="1"/>
          <p:nvPr/>
        </p:nvSpPr>
        <p:spPr>
          <a:xfrm>
            <a:off x="548640" y="527608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2000">
                <a:solidFill>
                  <a:srgbClr val="17233B"/>
                </a:solidFill>
                <a:latin typeface="Aptos"/>
              </a:rPr>
              <a:t>Đánh đổi: agent tìm và kiểm chứng tốt hơn, nhưng tốn nhiều lượt VLM tuần tự.</a:t>
            </a:r>
            <a:endParaRPr lang="vi-V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438912" y="21945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000" b="1">
                <a:solidFill>
                  <a:srgbClr val="0F9E90"/>
                </a:solidFill>
                <a:latin typeface="Aptos"/>
              </a:rPr>
              <a:t>ĐÁNH GIÁ</a:t>
            </a:r>
            <a:endParaRPr lang="vi-VN"/>
          </a:p>
        </p:txBody>
      </p:sp>
      <p:sp>
        <p:nvSpPr>
          <p:cNvPr id="5" name="Text 5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2800" b="1">
                <a:solidFill>
                  <a:srgbClr val="17233B"/>
                </a:solidFill>
                <a:latin typeface="Aptos"/>
              </a:rPr>
              <a:t>Tạo benchmark silver</a:t>
            </a:r>
            <a:endParaRPr lang="vi-VN"/>
          </a:p>
        </p:txBody>
      </p:sp>
      <p:sp>
        <p:nvSpPr>
          <p:cNvPr id="6" name="Shape 6"/>
          <p:cNvSpPr/>
          <p:nvPr/>
        </p:nvSpPr>
        <p:spPr>
          <a:xfrm>
            <a:off x="438912" y="1161288"/>
            <a:ext cx="11292840" cy="13716"/>
          </a:xfrm>
          <a:prstGeom prst="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448056" y="6574536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800">
                <a:solidFill>
                  <a:srgbClr val="596579"/>
                </a:solidFill>
                <a:latin typeface="Aptos"/>
              </a:rPr>
              <a:t>VIDEO RAG  /  AIC 2025</a:t>
            </a:r>
            <a:endParaRPr lang="vi-VN"/>
          </a:p>
        </p:txBody>
      </p:sp>
      <p:sp>
        <p:nvSpPr>
          <p:cNvPr id="8" name="Text 8"/>
          <p:cNvSpPr txBox="1"/>
          <p:nvPr/>
        </p:nvSpPr>
        <p:spPr>
          <a:xfrm>
            <a:off x="11119104" y="652881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000">
                <a:solidFill>
                  <a:srgbClr val="596579"/>
                </a:solidFill>
                <a:latin typeface="Aptos"/>
              </a:rPr>
              <a:t>12</a:t>
            </a:r>
            <a:endParaRPr lang="vi-VN"/>
          </a:p>
        </p:txBody>
      </p:sp>
      <p:pic>
        <p:nvPicPr>
          <p:cNvPr id="9" name="diagram_7.png" descr="Original figure: diagram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91897"/>
            <a:ext cx="11155680" cy="1380231"/>
          </a:xfrm>
          <a:prstGeom prst="rect">
            <a:avLst/>
          </a:prstGeom>
          <a:ln>
            <a:noFill/>
          </a:ln>
        </p:spPr>
      </p:pic>
      <p:sp>
        <p:nvSpPr>
          <p:cNvPr id="10" name="Shape 10"/>
          <p:cNvSpPr/>
          <p:nvPr/>
        </p:nvSpPr>
        <p:spPr>
          <a:xfrm>
            <a:off x="566928" y="3602736"/>
            <a:ext cx="5477256" cy="1700784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1" name="Shape 11"/>
          <p:cNvSpPr/>
          <p:nvPr/>
        </p:nvSpPr>
        <p:spPr>
          <a:xfrm>
            <a:off x="566928" y="3602736"/>
            <a:ext cx="50292" cy="170078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768096" y="3767328"/>
            <a:ext cx="5093208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2563EB"/>
                </a:solidFill>
                <a:latin typeface="Aptos"/>
              </a:rPr>
              <a:t>Chọn và xác minh</a:t>
            </a:r>
            <a:endParaRPr lang="vi-VN"/>
          </a:p>
        </p:txBody>
      </p:sp>
      <p:sp>
        <p:nvSpPr>
          <p:cNvPr id="13" name="Text 13"/>
          <p:cNvSpPr txBox="1"/>
          <p:nvPr/>
        </p:nvSpPr>
        <p:spPr>
          <a:xfrm>
            <a:off x="768096" y="4224528"/>
            <a:ext cx="5065776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600">
                <a:solidFill>
                  <a:srgbClr val="17233B"/>
                </a:solidFill>
                <a:latin typeface="Aptos"/>
              </a:rPr>
              <a:t>128 video pilot → 120 frame lấy mẫu → 43 proposal qua judge → 20 QA đóng băng.</a:t>
            </a:r>
            <a:endParaRPr lang="vi-VN"/>
          </a:p>
        </p:txBody>
      </p:sp>
      <p:sp>
        <p:nvSpPr>
          <p:cNvPr id="14" name="Shape 14"/>
          <p:cNvSpPr/>
          <p:nvPr/>
        </p:nvSpPr>
        <p:spPr>
          <a:xfrm>
            <a:off x="6217920" y="3602736"/>
            <a:ext cx="5376672" cy="1700784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5" name="Shape 15"/>
          <p:cNvSpPr/>
          <p:nvPr/>
        </p:nvSpPr>
        <p:spPr>
          <a:xfrm>
            <a:off x="6217920" y="3602736"/>
            <a:ext cx="50292" cy="1700784"/>
          </a:xfrm>
          <a:prstGeom prst="rect">
            <a:avLst/>
          </a:prstGeom>
          <a:solidFill>
            <a:srgbClr val="0F9E90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6419088" y="3767328"/>
            <a:ext cx="49926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0F9E90"/>
                </a:solidFill>
                <a:latin typeface="Aptos"/>
              </a:rPr>
              <a:t>Qrels</a:t>
            </a:r>
            <a:endParaRPr lang="vi-VN"/>
          </a:p>
        </p:txBody>
      </p:sp>
      <p:sp>
        <p:nvSpPr>
          <p:cNvPr id="17" name="Text 17"/>
          <p:cNvSpPr txBox="1"/>
          <p:nvPr/>
        </p:nvSpPr>
        <p:spPr>
          <a:xfrm>
            <a:off x="6419088" y="4224528"/>
            <a:ext cx="4965192" cy="9875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600">
                <a:solidFill>
                  <a:srgbClr val="17233B"/>
                </a:solidFill>
                <a:latin typeface="Aptos"/>
              </a:rPr>
              <a:t>416 frame được chấm 0–3 từ pool đa nguồn; 116 positive (grade ≥ 2).</a:t>
            </a:r>
            <a:endParaRPr lang="vi-VN"/>
          </a:p>
        </p:txBody>
      </p:sp>
      <p:sp>
        <p:nvSpPr>
          <p:cNvPr id="18" name="Text 18"/>
          <p:cNvSpPr txBox="1"/>
          <p:nvPr/>
        </p:nvSpPr>
        <p:spPr>
          <a:xfrm>
            <a:off x="621792" y="5660136"/>
            <a:ext cx="10972800" cy="3383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500">
                <a:solidFill>
                  <a:srgbClr val="C24152"/>
                </a:solidFill>
                <a:latin typeface="Aptos"/>
              </a:rPr>
              <a:t>Nhãn do MLLM sinh và kiểm chứng; chưa phải ground truth của chuyên gia.</a:t>
            </a:r>
            <a:endParaRPr lang="vi-V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438912" y="21945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000" b="1">
                <a:solidFill>
                  <a:srgbClr val="0F9E90"/>
                </a:solidFill>
                <a:latin typeface="Aptos"/>
              </a:rPr>
              <a:t>ĐÁNH GIÁ</a:t>
            </a:r>
            <a:endParaRPr lang="vi-VN"/>
          </a:p>
        </p:txBody>
      </p:sp>
      <p:sp>
        <p:nvSpPr>
          <p:cNvPr id="5" name="Text 5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2800" b="1">
                <a:solidFill>
                  <a:srgbClr val="17233B"/>
                </a:solidFill>
                <a:latin typeface="Aptos"/>
              </a:rPr>
              <a:t>Từ nhãn frame đến metric</a:t>
            </a:r>
            <a:endParaRPr lang="vi-VN"/>
          </a:p>
        </p:txBody>
      </p:sp>
      <p:sp>
        <p:nvSpPr>
          <p:cNvPr id="6" name="Shape 6"/>
          <p:cNvSpPr/>
          <p:nvPr/>
        </p:nvSpPr>
        <p:spPr>
          <a:xfrm>
            <a:off x="438912" y="1161288"/>
            <a:ext cx="11292840" cy="13716"/>
          </a:xfrm>
          <a:prstGeom prst="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448056" y="6574536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800">
                <a:solidFill>
                  <a:srgbClr val="596579"/>
                </a:solidFill>
                <a:latin typeface="Aptos"/>
              </a:rPr>
              <a:t>VIDEO RAG  /  AIC 2025</a:t>
            </a:r>
            <a:endParaRPr lang="vi-VN"/>
          </a:p>
        </p:txBody>
      </p:sp>
      <p:sp>
        <p:nvSpPr>
          <p:cNvPr id="8" name="Text 8"/>
          <p:cNvSpPr txBox="1"/>
          <p:nvPr/>
        </p:nvSpPr>
        <p:spPr>
          <a:xfrm>
            <a:off x="11119104" y="652881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000">
                <a:solidFill>
                  <a:srgbClr val="596579"/>
                </a:solidFill>
                <a:latin typeface="Aptos"/>
              </a:rPr>
              <a:t>13</a:t>
            </a:r>
            <a:endParaRPr lang="vi-VN"/>
          </a:p>
        </p:txBody>
      </p:sp>
      <p:pic>
        <p:nvPicPr>
          <p:cNvPr id="9" name="diagram_8.png" descr="Original figure: diagram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559" y="1426464"/>
            <a:ext cx="6616114" cy="3502152"/>
          </a:xfrm>
          <a:prstGeom prst="rect">
            <a:avLst/>
          </a:prstGeom>
          <a:ln>
            <a:noFill/>
          </a:ln>
        </p:spPr>
      </p:pic>
      <p:sp>
        <p:nvSpPr>
          <p:cNvPr id="10" name="Text 10"/>
          <p:cNvSpPr txBox="1"/>
          <p:nvPr/>
        </p:nvSpPr>
        <p:spPr>
          <a:xfrm>
            <a:off x="603504" y="5239512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2000">
                <a:solidFill>
                  <a:srgbClr val="17233B"/>
                </a:solidFill>
                <a:latin typeface="Aptos"/>
              </a:rPr>
              <a:t>Qrels + accepted ranges dùng cho retrieval; evidence images dùng cho visual judges.</a:t>
            </a:r>
            <a:endParaRPr lang="vi-V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438912" y="21945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000" b="1">
                <a:solidFill>
                  <a:srgbClr val="0F9E90"/>
                </a:solidFill>
                <a:latin typeface="Aptos"/>
              </a:rPr>
              <a:t>ĐÁNH GIÁ</a:t>
            </a:r>
            <a:endParaRPr lang="vi-VN"/>
          </a:p>
        </p:txBody>
      </p:sp>
      <p:sp>
        <p:nvSpPr>
          <p:cNvPr id="5" name="Text 5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2800" b="1">
                <a:solidFill>
                  <a:srgbClr val="17233B"/>
                </a:solidFill>
                <a:latin typeface="Aptos"/>
              </a:rPr>
              <a:t>Bốn metric cốt lõi</a:t>
            </a:r>
            <a:endParaRPr lang="vi-VN"/>
          </a:p>
        </p:txBody>
      </p:sp>
      <p:sp>
        <p:nvSpPr>
          <p:cNvPr id="6" name="Shape 6"/>
          <p:cNvSpPr/>
          <p:nvPr/>
        </p:nvSpPr>
        <p:spPr>
          <a:xfrm>
            <a:off x="438912" y="1161288"/>
            <a:ext cx="11292840" cy="13716"/>
          </a:xfrm>
          <a:prstGeom prst="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448056" y="6574536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800">
                <a:solidFill>
                  <a:srgbClr val="596579"/>
                </a:solidFill>
                <a:latin typeface="Aptos"/>
              </a:rPr>
              <a:t>VIDEO RAG  /  AIC 2025</a:t>
            </a:r>
            <a:endParaRPr lang="vi-VN"/>
          </a:p>
        </p:txBody>
      </p:sp>
      <p:sp>
        <p:nvSpPr>
          <p:cNvPr id="8" name="Text 8"/>
          <p:cNvSpPr txBox="1"/>
          <p:nvPr/>
        </p:nvSpPr>
        <p:spPr>
          <a:xfrm>
            <a:off x="11119104" y="652881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000">
                <a:solidFill>
                  <a:srgbClr val="596579"/>
                </a:solidFill>
                <a:latin typeface="Aptos"/>
              </a:rPr>
              <a:t>14</a:t>
            </a:r>
            <a:endParaRPr lang="vi-VN"/>
          </a:p>
        </p:txBody>
      </p:sp>
      <p:sp>
        <p:nvSpPr>
          <p:cNvPr id="9" name="Shape 9"/>
          <p:cNvSpPr/>
          <p:nvPr/>
        </p:nvSpPr>
        <p:spPr>
          <a:xfrm>
            <a:off x="502920" y="1435608"/>
            <a:ext cx="5513832" cy="1042416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0" name="Shape 10"/>
          <p:cNvSpPr/>
          <p:nvPr/>
        </p:nvSpPr>
        <p:spPr>
          <a:xfrm>
            <a:off x="502920" y="1435608"/>
            <a:ext cx="50292" cy="104241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704088" y="1600200"/>
            <a:ext cx="512978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2563EB"/>
                </a:solidFill>
                <a:latin typeface="Aptos"/>
              </a:rPr>
              <a:t>Visual Context Recall</a:t>
            </a:r>
            <a:endParaRPr lang="vi-VN"/>
          </a:p>
        </p:txBody>
      </p:sp>
      <p:sp>
        <p:nvSpPr>
          <p:cNvPr id="12" name="Text 12"/>
          <p:cNvSpPr txBox="1"/>
          <p:nvPr/>
        </p:nvSpPr>
        <p:spPr>
          <a:xfrm>
            <a:off x="704088" y="2057400"/>
            <a:ext cx="510235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>
                <a:solidFill>
                  <a:srgbClr val="17233B"/>
                </a:solidFill>
                <a:latin typeface="Aptos"/>
              </a:rPr>
              <a:t>Tỷ lệ claim được các frame context hỗ trợ.</a:t>
            </a:r>
            <a:endParaRPr lang="vi-VN"/>
          </a:p>
        </p:txBody>
      </p:sp>
      <p:sp>
        <p:nvSpPr>
          <p:cNvPr id="13" name="Shape 13"/>
          <p:cNvSpPr/>
          <p:nvPr/>
        </p:nvSpPr>
        <p:spPr>
          <a:xfrm>
            <a:off x="6190488" y="1435608"/>
            <a:ext cx="5513832" cy="1042416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4" name="Shape 14"/>
          <p:cNvSpPr/>
          <p:nvPr/>
        </p:nvSpPr>
        <p:spPr>
          <a:xfrm>
            <a:off x="6190488" y="1435608"/>
            <a:ext cx="50292" cy="1042416"/>
          </a:xfrm>
          <a:prstGeom prst="rect">
            <a:avLst/>
          </a:prstGeom>
          <a:solidFill>
            <a:srgbClr val="0F9E90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6391656" y="1600200"/>
            <a:ext cx="512978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0F9E90"/>
                </a:solidFill>
                <a:latin typeface="Aptos"/>
              </a:rPr>
              <a:t>Context Precision</a:t>
            </a:r>
            <a:endParaRPr lang="vi-VN"/>
          </a:p>
        </p:txBody>
      </p:sp>
      <p:sp>
        <p:nvSpPr>
          <p:cNvPr id="16" name="Text 16"/>
          <p:cNvSpPr txBox="1"/>
          <p:nvPr/>
        </p:nvSpPr>
        <p:spPr>
          <a:xfrm>
            <a:off x="6391656" y="2057400"/>
            <a:ext cx="510235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>
                <a:solidFill>
                  <a:srgbClr val="17233B"/>
                </a:solidFill>
                <a:latin typeface="Aptos"/>
              </a:rPr>
              <a:t>Average precision theo thứ hạng frame trong context.</a:t>
            </a:r>
            <a:endParaRPr lang="vi-VN"/>
          </a:p>
        </p:txBody>
      </p:sp>
      <p:sp>
        <p:nvSpPr>
          <p:cNvPr id="17" name="Shape 17"/>
          <p:cNvSpPr/>
          <p:nvPr/>
        </p:nvSpPr>
        <p:spPr>
          <a:xfrm>
            <a:off x="502920" y="2633472"/>
            <a:ext cx="5513832" cy="1042416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8" name="Shape 18"/>
          <p:cNvSpPr/>
          <p:nvPr/>
        </p:nvSpPr>
        <p:spPr>
          <a:xfrm>
            <a:off x="502920" y="2633472"/>
            <a:ext cx="50292" cy="1042416"/>
          </a:xfrm>
          <a:prstGeom prst="rect">
            <a:avLst/>
          </a:prstGeom>
          <a:solidFill>
            <a:srgbClr val="D88A17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704088" y="2798064"/>
            <a:ext cx="512978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D88A17"/>
                </a:solidFill>
                <a:latin typeface="Aptos"/>
              </a:rPr>
              <a:t>Faithfulness</a:t>
            </a:r>
            <a:endParaRPr lang="vi-VN"/>
          </a:p>
        </p:txBody>
      </p:sp>
      <p:sp>
        <p:nvSpPr>
          <p:cNvPr id="20" name="Text 20"/>
          <p:cNvSpPr txBox="1"/>
          <p:nvPr/>
        </p:nvSpPr>
        <p:spPr>
          <a:xfrm>
            <a:off x="704088" y="3255264"/>
            <a:ext cx="510235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>
                <a:solidFill>
                  <a:srgbClr val="17233B"/>
                </a:solidFill>
                <a:latin typeface="Aptos"/>
              </a:rPr>
              <a:t>RAGAS MultiModalFaithfulness: verdict nhị phân.</a:t>
            </a:r>
            <a:endParaRPr lang="vi-VN"/>
          </a:p>
        </p:txBody>
      </p:sp>
      <p:sp>
        <p:nvSpPr>
          <p:cNvPr id="21" name="Shape 21"/>
          <p:cNvSpPr/>
          <p:nvPr/>
        </p:nvSpPr>
        <p:spPr>
          <a:xfrm>
            <a:off x="6190488" y="2633472"/>
            <a:ext cx="5513832" cy="1042416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22" name="Shape 22"/>
          <p:cNvSpPr/>
          <p:nvPr/>
        </p:nvSpPr>
        <p:spPr>
          <a:xfrm>
            <a:off x="6190488" y="2633472"/>
            <a:ext cx="50292" cy="1042416"/>
          </a:xfrm>
          <a:prstGeom prst="rect">
            <a:avLst/>
          </a:prstGeom>
          <a:solidFill>
            <a:srgbClr val="C24152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6391656" y="2798064"/>
            <a:ext cx="512978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C24152"/>
                </a:solidFill>
                <a:latin typeface="Aptos"/>
              </a:rPr>
              <a:t>Answer Relevance</a:t>
            </a:r>
            <a:endParaRPr lang="vi-VN"/>
          </a:p>
        </p:txBody>
      </p:sp>
      <p:sp>
        <p:nvSpPr>
          <p:cNvPr id="24" name="Text 24"/>
          <p:cNvSpPr txBox="1"/>
          <p:nvPr/>
        </p:nvSpPr>
        <p:spPr>
          <a:xfrm>
            <a:off x="6391656" y="3255264"/>
            <a:ext cx="510235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>
                <a:solidFill>
                  <a:srgbClr val="17233B"/>
                </a:solidFill>
                <a:latin typeface="Aptos"/>
              </a:rPr>
              <a:t>RAGAS AnswerRelevancy: độ đúng trọng tâm, không đo fact.</a:t>
            </a:r>
            <a:endParaRPr lang="vi-VN"/>
          </a:p>
        </p:txBody>
      </p:sp>
      <p:pic>
        <p:nvPicPr>
          <p:cNvPr id="25" name="diagram_9.png" descr="Original figure: diagram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347" y="3968496"/>
            <a:ext cx="7869114" cy="2157984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438912" y="21945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000" b="1">
                <a:solidFill>
                  <a:srgbClr val="0F9E90"/>
                </a:solidFill>
                <a:latin typeface="Aptos"/>
              </a:rPr>
              <a:t>ĐÁNH GIÁ</a:t>
            </a:r>
            <a:endParaRPr lang="vi-VN"/>
          </a:p>
        </p:txBody>
      </p:sp>
      <p:sp>
        <p:nvSpPr>
          <p:cNvPr id="5" name="Text 5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2800" b="1">
                <a:solidFill>
                  <a:srgbClr val="17233B"/>
                </a:solidFill>
                <a:latin typeface="Aptos"/>
              </a:rPr>
              <a:t>Giao thức và giới hạn diễn giải</a:t>
            </a:r>
            <a:endParaRPr lang="vi-VN"/>
          </a:p>
        </p:txBody>
      </p:sp>
      <p:sp>
        <p:nvSpPr>
          <p:cNvPr id="6" name="Shape 6"/>
          <p:cNvSpPr/>
          <p:nvPr/>
        </p:nvSpPr>
        <p:spPr>
          <a:xfrm>
            <a:off x="438912" y="1161288"/>
            <a:ext cx="11292840" cy="13716"/>
          </a:xfrm>
          <a:prstGeom prst="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448056" y="6574536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800">
                <a:solidFill>
                  <a:srgbClr val="596579"/>
                </a:solidFill>
                <a:latin typeface="Aptos"/>
              </a:rPr>
              <a:t>VIDEO RAG  /  AIC 2025</a:t>
            </a:r>
            <a:endParaRPr lang="vi-VN"/>
          </a:p>
        </p:txBody>
      </p:sp>
      <p:sp>
        <p:nvSpPr>
          <p:cNvPr id="8" name="Text 8"/>
          <p:cNvSpPr txBox="1"/>
          <p:nvPr/>
        </p:nvSpPr>
        <p:spPr>
          <a:xfrm>
            <a:off x="11119104" y="652881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000">
                <a:solidFill>
                  <a:srgbClr val="596579"/>
                </a:solidFill>
                <a:latin typeface="Aptos"/>
              </a:rPr>
              <a:t>15</a:t>
            </a:r>
            <a:endParaRPr lang="vi-VN"/>
          </a:p>
        </p:txBody>
      </p:sp>
      <p:sp>
        <p:nvSpPr>
          <p:cNvPr id="9" name="Shape 9"/>
          <p:cNvSpPr/>
          <p:nvPr/>
        </p:nvSpPr>
        <p:spPr>
          <a:xfrm>
            <a:off x="502920" y="1508760"/>
            <a:ext cx="5449824" cy="1554480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0" name="Shape 10"/>
          <p:cNvSpPr/>
          <p:nvPr/>
        </p:nvSpPr>
        <p:spPr>
          <a:xfrm>
            <a:off x="502920" y="1508760"/>
            <a:ext cx="50292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704088" y="1673352"/>
            <a:ext cx="5065776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2563EB"/>
                </a:solidFill>
                <a:latin typeface="Aptos"/>
              </a:rPr>
              <a:t>Chia tập</a:t>
            </a:r>
            <a:endParaRPr lang="vi-VN"/>
          </a:p>
        </p:txBody>
      </p:sp>
      <p:sp>
        <p:nvSpPr>
          <p:cNvPr id="12" name="Text 12"/>
          <p:cNvSpPr txBox="1"/>
          <p:nvPr/>
        </p:nvSpPr>
        <p:spPr>
          <a:xfrm>
            <a:off x="704088" y="2130552"/>
            <a:ext cx="5038344" cy="8412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600">
                <a:solidFill>
                  <a:srgbClr val="17233B"/>
                </a:solidFill>
                <a:latin typeface="Aptos"/>
              </a:rPr>
              <a:t>20 QA: 6 dev / 14 test. Split theo video và nhóm near-duplicate.</a:t>
            </a:r>
            <a:endParaRPr lang="vi-VN"/>
          </a:p>
        </p:txBody>
      </p:sp>
      <p:sp>
        <p:nvSpPr>
          <p:cNvPr id="13" name="Shape 13"/>
          <p:cNvSpPr/>
          <p:nvPr/>
        </p:nvSpPr>
        <p:spPr>
          <a:xfrm>
            <a:off x="6181344" y="1508760"/>
            <a:ext cx="5449824" cy="1554480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4" name="Shape 14"/>
          <p:cNvSpPr/>
          <p:nvPr/>
        </p:nvSpPr>
        <p:spPr>
          <a:xfrm>
            <a:off x="6181344" y="1508760"/>
            <a:ext cx="50292" cy="1554480"/>
          </a:xfrm>
          <a:prstGeom prst="rect">
            <a:avLst/>
          </a:prstGeom>
          <a:solidFill>
            <a:srgbClr val="0F9E90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6382512" y="1673352"/>
            <a:ext cx="5065776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0F9E90"/>
                </a:solidFill>
                <a:latin typeface="Aptos"/>
              </a:rPr>
              <a:t>Qrels hữu hạn</a:t>
            </a:r>
            <a:endParaRPr lang="vi-VN"/>
          </a:p>
        </p:txBody>
      </p:sp>
      <p:sp>
        <p:nvSpPr>
          <p:cNvPr id="16" name="Text 16"/>
          <p:cNvSpPr txBox="1"/>
          <p:nvPr/>
        </p:nvSpPr>
        <p:spPr>
          <a:xfrm>
            <a:off x="6382512" y="2130552"/>
            <a:ext cx="5038344" cy="8412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600">
                <a:solidFill>
                  <a:srgbClr val="17233B"/>
                </a:solidFill>
                <a:latin typeface="Aptos"/>
              </a:rPr>
              <a:t>Unjudged ≠ negative. Pool 416 qrels không bao phủ toàn bộ corpus.</a:t>
            </a:r>
            <a:endParaRPr lang="vi-VN"/>
          </a:p>
        </p:txBody>
      </p:sp>
      <p:sp>
        <p:nvSpPr>
          <p:cNvPr id="17" name="Shape 17"/>
          <p:cNvSpPr/>
          <p:nvPr/>
        </p:nvSpPr>
        <p:spPr>
          <a:xfrm>
            <a:off x="502920" y="3273552"/>
            <a:ext cx="5449824" cy="1554480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8" name="Shape 18"/>
          <p:cNvSpPr/>
          <p:nvPr/>
        </p:nvSpPr>
        <p:spPr>
          <a:xfrm>
            <a:off x="502920" y="3273552"/>
            <a:ext cx="50292" cy="1554480"/>
          </a:xfrm>
          <a:prstGeom prst="rect">
            <a:avLst/>
          </a:prstGeom>
          <a:solidFill>
            <a:srgbClr val="D88A17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704088" y="3438144"/>
            <a:ext cx="5065776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D88A17"/>
                </a:solidFill>
                <a:latin typeface="Aptos"/>
              </a:rPr>
              <a:t>Judge</a:t>
            </a:r>
            <a:endParaRPr lang="vi-VN"/>
          </a:p>
        </p:txBody>
      </p:sp>
      <p:sp>
        <p:nvSpPr>
          <p:cNvPr id="20" name="Text 20"/>
          <p:cNvSpPr txBox="1"/>
          <p:nvPr/>
        </p:nvSpPr>
        <p:spPr>
          <a:xfrm>
            <a:off x="704088" y="3895344"/>
            <a:ext cx="5038344" cy="8412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600">
                <a:solidFill>
                  <a:srgbClr val="17233B"/>
                </a:solidFill>
                <a:latin typeface="Aptos"/>
              </a:rPr>
              <a:t>Generator và judge dùng cùng checkpoint với prompt độc lập; có correlated bias.</a:t>
            </a:r>
            <a:endParaRPr lang="vi-VN"/>
          </a:p>
        </p:txBody>
      </p:sp>
      <p:sp>
        <p:nvSpPr>
          <p:cNvPr id="21" name="Shape 21"/>
          <p:cNvSpPr/>
          <p:nvPr/>
        </p:nvSpPr>
        <p:spPr>
          <a:xfrm>
            <a:off x="6181344" y="3273552"/>
            <a:ext cx="5449824" cy="1554480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22" name="Shape 22"/>
          <p:cNvSpPr/>
          <p:nvPr/>
        </p:nvSpPr>
        <p:spPr>
          <a:xfrm>
            <a:off x="6181344" y="3273552"/>
            <a:ext cx="50292" cy="1554480"/>
          </a:xfrm>
          <a:prstGeom prst="rect">
            <a:avLst/>
          </a:prstGeom>
          <a:solidFill>
            <a:srgbClr val="C24152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6382512" y="3438144"/>
            <a:ext cx="5065776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C24152"/>
                </a:solidFill>
                <a:latin typeface="Aptos"/>
              </a:rPr>
              <a:t>Phạm vi</a:t>
            </a:r>
            <a:endParaRPr lang="vi-VN"/>
          </a:p>
        </p:txBody>
      </p:sp>
      <p:sp>
        <p:nvSpPr>
          <p:cNvPr id="24" name="Text 24"/>
          <p:cNvSpPr txBox="1"/>
          <p:nvPr/>
        </p:nvSpPr>
        <p:spPr>
          <a:xfrm>
            <a:off x="6382512" y="3895344"/>
            <a:ext cx="5038344" cy="8412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600">
                <a:solidFill>
                  <a:srgbClr val="17233B"/>
                </a:solidFill>
                <a:latin typeface="Aptos"/>
              </a:rPr>
              <a:t>E1–E8 đánh giá dense SigLIP2; chưa đo BM25 hybrid và MLLM rerank production.</a:t>
            </a:r>
            <a:endParaRPr lang="vi-VN"/>
          </a:p>
        </p:txBody>
      </p:sp>
      <p:sp>
        <p:nvSpPr>
          <p:cNvPr id="25" name="Text 25"/>
          <p:cNvSpPr txBox="1"/>
          <p:nvPr/>
        </p:nvSpPr>
        <p:spPr>
          <a:xfrm>
            <a:off x="576072" y="5394960"/>
            <a:ext cx="109728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800">
                <a:solidFill>
                  <a:srgbClr val="17233B"/>
                </a:solidFill>
                <a:latin typeface="Aptos"/>
              </a:rPr>
              <a:t>So sánh ablation là bằng chứng pilot, chưa đủ để kết luận mạnh trên toàn bộ 873 video.</a:t>
            </a:r>
            <a:endParaRPr lang="vi-VN"/>
          </a:p>
        </p:txBody>
      </p:sp>
      <p:sp>
        <p:nvSpPr>
          <p:cNvPr id="26" name="Text 26"/>
          <p:cNvSpPr txBox="1"/>
          <p:nvPr/>
        </p:nvSpPr>
        <p:spPr>
          <a:xfrm>
            <a:off x="576072" y="5879592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>
                <a:solidFill>
                  <a:srgbClr val="596579"/>
                </a:solidFill>
                <a:latin typeface="Aptos"/>
              </a:rPr>
              <a:t>Metric bổ sung: Recall@k · MRR · nDCG · Answer Correctness · Negative Rejection · Latency p50/p95.</a:t>
            </a:r>
            <a:endParaRPr lang="vi-V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438912" y="21945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000" b="1">
                <a:solidFill>
                  <a:srgbClr val="0F9E90"/>
                </a:solidFill>
                <a:latin typeface="Aptos"/>
              </a:rPr>
              <a:t>ABLATION</a:t>
            </a:r>
            <a:endParaRPr lang="vi-VN"/>
          </a:p>
        </p:txBody>
      </p:sp>
      <p:sp>
        <p:nvSpPr>
          <p:cNvPr id="5" name="Text 5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2800" b="1">
                <a:solidFill>
                  <a:srgbClr val="17233B"/>
                </a:solidFill>
                <a:latin typeface="Aptos"/>
              </a:rPr>
              <a:t>E1–E8: mỗi bước kiểm tra một thành phần</a:t>
            </a:r>
            <a:endParaRPr lang="vi-VN"/>
          </a:p>
        </p:txBody>
      </p:sp>
      <p:sp>
        <p:nvSpPr>
          <p:cNvPr id="6" name="Shape 6"/>
          <p:cNvSpPr/>
          <p:nvPr/>
        </p:nvSpPr>
        <p:spPr>
          <a:xfrm>
            <a:off x="438912" y="1161288"/>
            <a:ext cx="11292840" cy="13716"/>
          </a:xfrm>
          <a:prstGeom prst="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448056" y="6574536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800">
                <a:solidFill>
                  <a:srgbClr val="596579"/>
                </a:solidFill>
                <a:latin typeface="Aptos"/>
              </a:rPr>
              <a:t>VIDEO RAG  /  AIC 2025</a:t>
            </a:r>
            <a:endParaRPr lang="vi-VN"/>
          </a:p>
        </p:txBody>
      </p:sp>
      <p:sp>
        <p:nvSpPr>
          <p:cNvPr id="8" name="Text 8"/>
          <p:cNvSpPr txBox="1"/>
          <p:nvPr/>
        </p:nvSpPr>
        <p:spPr>
          <a:xfrm>
            <a:off x="11119104" y="652881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000">
                <a:solidFill>
                  <a:srgbClr val="596579"/>
                </a:solidFill>
                <a:latin typeface="Aptos"/>
              </a:rPr>
              <a:t>16</a:t>
            </a:r>
            <a:endParaRPr lang="vi-VN"/>
          </a:p>
        </p:txBody>
      </p:sp>
      <p:sp>
        <p:nvSpPr>
          <p:cNvPr id="9" name="Shape 9"/>
          <p:cNvSpPr/>
          <p:nvPr/>
        </p:nvSpPr>
        <p:spPr>
          <a:xfrm>
            <a:off x="530352" y="1472184"/>
            <a:ext cx="5440680" cy="969264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0" name="Shape 10"/>
          <p:cNvSpPr/>
          <p:nvPr/>
        </p:nvSpPr>
        <p:spPr>
          <a:xfrm>
            <a:off x="685800" y="1764792"/>
            <a:ext cx="658368" cy="338328"/>
          </a:xfrm>
          <a:prstGeom prst="roundRect">
            <a:avLst/>
          </a:prstGeom>
          <a:solidFill>
            <a:srgbClr val="E4EDFF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795528" y="1828800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100" b="1">
                <a:solidFill>
                  <a:srgbClr val="2563EB"/>
                </a:solidFill>
                <a:latin typeface="Aptos"/>
              </a:rPr>
              <a:t>E1</a:t>
            </a:r>
            <a:endParaRPr lang="vi-VN"/>
          </a:p>
        </p:txBody>
      </p:sp>
      <p:sp>
        <p:nvSpPr>
          <p:cNvPr id="12" name="Text 12"/>
          <p:cNvSpPr txBox="1"/>
          <p:nvPr/>
        </p:nvSpPr>
        <p:spPr>
          <a:xfrm>
            <a:off x="1508760" y="1655064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600" b="1">
                <a:solidFill>
                  <a:srgbClr val="17233B"/>
                </a:solidFill>
                <a:latin typeface="Aptos"/>
              </a:rPr>
              <a:t>Dense SigLIP2</a:t>
            </a:r>
            <a:endParaRPr lang="vi-VN"/>
          </a:p>
        </p:txBody>
      </p:sp>
      <p:sp>
        <p:nvSpPr>
          <p:cNvPr id="13" name="Text 13"/>
          <p:cNvSpPr txBox="1"/>
          <p:nvPr/>
        </p:nvSpPr>
        <p:spPr>
          <a:xfrm>
            <a:off x="1517904" y="201168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100">
                <a:solidFill>
                  <a:srgbClr val="596579"/>
                </a:solidFill>
                <a:latin typeface="Aptos"/>
              </a:rPr>
              <a:t>baseline</a:t>
            </a:r>
            <a:endParaRPr lang="vi-VN"/>
          </a:p>
        </p:txBody>
      </p:sp>
      <p:sp>
        <p:nvSpPr>
          <p:cNvPr id="14" name="Shape 14"/>
          <p:cNvSpPr/>
          <p:nvPr/>
        </p:nvSpPr>
        <p:spPr>
          <a:xfrm>
            <a:off x="6172200" y="1472184"/>
            <a:ext cx="5440680" cy="969264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5" name="Shape 15"/>
          <p:cNvSpPr/>
          <p:nvPr/>
        </p:nvSpPr>
        <p:spPr>
          <a:xfrm>
            <a:off x="6327648" y="1764792"/>
            <a:ext cx="658368" cy="338328"/>
          </a:xfrm>
          <a:prstGeom prst="roundRect">
            <a:avLst/>
          </a:prstGeom>
          <a:solidFill>
            <a:srgbClr val="E4EDFF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6437376" y="1828800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100" b="1">
                <a:solidFill>
                  <a:srgbClr val="2563EB"/>
                </a:solidFill>
                <a:latin typeface="Aptos"/>
              </a:rPr>
              <a:t>E2</a:t>
            </a:r>
            <a:endParaRPr lang="vi-VN"/>
          </a:p>
        </p:txBody>
      </p:sp>
      <p:sp>
        <p:nvSpPr>
          <p:cNvPr id="17" name="Text 17"/>
          <p:cNvSpPr txBox="1"/>
          <p:nvPr/>
        </p:nvSpPr>
        <p:spPr>
          <a:xfrm>
            <a:off x="7150608" y="1655064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600" b="1">
                <a:solidFill>
                  <a:srgbClr val="17233B"/>
                </a:solidFill>
                <a:latin typeface="Aptos"/>
              </a:rPr>
              <a:t>+ query variants + RRF</a:t>
            </a:r>
            <a:endParaRPr lang="vi-VN"/>
          </a:p>
        </p:txBody>
      </p:sp>
      <p:sp>
        <p:nvSpPr>
          <p:cNvPr id="18" name="Text 18"/>
          <p:cNvSpPr txBox="1"/>
          <p:nvPr/>
        </p:nvSpPr>
        <p:spPr>
          <a:xfrm>
            <a:off x="7159752" y="201168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100">
                <a:solidFill>
                  <a:srgbClr val="596579"/>
                </a:solidFill>
                <a:latin typeface="Aptos"/>
              </a:rPr>
              <a:t>retrieval</a:t>
            </a:r>
            <a:endParaRPr lang="vi-VN"/>
          </a:p>
        </p:txBody>
      </p:sp>
      <p:sp>
        <p:nvSpPr>
          <p:cNvPr id="19" name="Shape 19"/>
          <p:cNvSpPr/>
          <p:nvPr/>
        </p:nvSpPr>
        <p:spPr>
          <a:xfrm>
            <a:off x="530352" y="2606040"/>
            <a:ext cx="5440680" cy="969264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20" name="Shape 20"/>
          <p:cNvSpPr/>
          <p:nvPr/>
        </p:nvSpPr>
        <p:spPr>
          <a:xfrm>
            <a:off x="685800" y="2898648"/>
            <a:ext cx="658368" cy="338328"/>
          </a:xfrm>
          <a:prstGeom prst="roundRect">
            <a:avLst/>
          </a:prstGeom>
          <a:solidFill>
            <a:srgbClr val="E4EDFF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795528" y="2962656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100" b="1">
                <a:solidFill>
                  <a:srgbClr val="2563EB"/>
                </a:solidFill>
                <a:latin typeface="Aptos"/>
              </a:rPr>
              <a:t>E3</a:t>
            </a:r>
            <a:endParaRPr lang="vi-VN"/>
          </a:p>
        </p:txBody>
      </p:sp>
      <p:sp>
        <p:nvSpPr>
          <p:cNvPr id="22" name="Text 22"/>
          <p:cNvSpPr txBox="1"/>
          <p:nvPr/>
        </p:nvSpPr>
        <p:spPr>
          <a:xfrm>
            <a:off x="1508760" y="2788920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600" b="1">
                <a:solidFill>
                  <a:srgbClr val="17233B"/>
                </a:solidFill>
                <a:latin typeface="Aptos"/>
              </a:rPr>
              <a:t>+ object soft boost</a:t>
            </a:r>
            <a:endParaRPr lang="vi-VN"/>
          </a:p>
        </p:txBody>
      </p:sp>
      <p:sp>
        <p:nvSpPr>
          <p:cNvPr id="23" name="Text 23"/>
          <p:cNvSpPr txBox="1"/>
          <p:nvPr/>
        </p:nvSpPr>
        <p:spPr>
          <a:xfrm>
            <a:off x="1517904" y="3145536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100">
                <a:solidFill>
                  <a:srgbClr val="596579"/>
                </a:solidFill>
                <a:latin typeface="Aptos"/>
              </a:rPr>
              <a:t>metadata</a:t>
            </a:r>
            <a:endParaRPr lang="vi-VN"/>
          </a:p>
        </p:txBody>
      </p:sp>
      <p:sp>
        <p:nvSpPr>
          <p:cNvPr id="24" name="Shape 24"/>
          <p:cNvSpPr/>
          <p:nvPr/>
        </p:nvSpPr>
        <p:spPr>
          <a:xfrm>
            <a:off x="6172200" y="2606040"/>
            <a:ext cx="5440680" cy="969264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25" name="Shape 25"/>
          <p:cNvSpPr/>
          <p:nvPr/>
        </p:nvSpPr>
        <p:spPr>
          <a:xfrm>
            <a:off x="6327648" y="2898648"/>
            <a:ext cx="658368" cy="338328"/>
          </a:xfrm>
          <a:prstGeom prst="roundRect">
            <a:avLst/>
          </a:prstGeom>
          <a:solidFill>
            <a:srgbClr val="E4EDFF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6437376" y="2962656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100" b="1">
                <a:solidFill>
                  <a:srgbClr val="2563EB"/>
                </a:solidFill>
                <a:latin typeface="Aptos"/>
              </a:rPr>
              <a:t>E4</a:t>
            </a:r>
            <a:endParaRPr lang="vi-VN"/>
          </a:p>
        </p:txBody>
      </p:sp>
      <p:sp>
        <p:nvSpPr>
          <p:cNvPr id="27" name="Text 27"/>
          <p:cNvSpPr txBox="1"/>
          <p:nvPr/>
        </p:nvSpPr>
        <p:spPr>
          <a:xfrm>
            <a:off x="7150608" y="2788920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600" b="1">
                <a:solidFill>
                  <a:srgbClr val="17233B"/>
                </a:solidFill>
                <a:latin typeface="Aptos"/>
              </a:rPr>
              <a:t>+ SuperGlobal</a:t>
            </a:r>
            <a:endParaRPr lang="vi-VN"/>
          </a:p>
        </p:txBody>
      </p:sp>
      <p:sp>
        <p:nvSpPr>
          <p:cNvPr id="28" name="Text 28"/>
          <p:cNvSpPr txBox="1"/>
          <p:nvPr/>
        </p:nvSpPr>
        <p:spPr>
          <a:xfrm>
            <a:off x="7159752" y="3145536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100">
                <a:solidFill>
                  <a:srgbClr val="596579"/>
                </a:solidFill>
                <a:latin typeface="Aptos"/>
              </a:rPr>
              <a:t>rerank</a:t>
            </a:r>
            <a:endParaRPr lang="vi-VN"/>
          </a:p>
        </p:txBody>
      </p:sp>
      <p:sp>
        <p:nvSpPr>
          <p:cNvPr id="29" name="Shape 29"/>
          <p:cNvSpPr/>
          <p:nvPr/>
        </p:nvSpPr>
        <p:spPr>
          <a:xfrm>
            <a:off x="530352" y="3739896"/>
            <a:ext cx="5440680" cy="969264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30" name="Shape 30"/>
          <p:cNvSpPr/>
          <p:nvPr/>
        </p:nvSpPr>
        <p:spPr>
          <a:xfrm>
            <a:off x="685800" y="4032504"/>
            <a:ext cx="658368" cy="338328"/>
          </a:xfrm>
          <a:prstGeom prst="roundRect">
            <a:avLst/>
          </a:prstGeom>
          <a:solidFill>
            <a:srgbClr val="E4EDFF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795528" y="4096512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100" b="1">
                <a:solidFill>
                  <a:srgbClr val="2563EB"/>
                </a:solidFill>
                <a:latin typeface="Aptos"/>
              </a:rPr>
              <a:t>E5</a:t>
            </a:r>
            <a:endParaRPr lang="vi-VN"/>
          </a:p>
        </p:txBody>
      </p:sp>
      <p:sp>
        <p:nvSpPr>
          <p:cNvPr id="32" name="Text 32"/>
          <p:cNvSpPr txBox="1"/>
          <p:nvPr/>
        </p:nvSpPr>
        <p:spPr>
          <a:xfrm>
            <a:off x="1508760" y="3922776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600" b="1">
                <a:solidFill>
                  <a:srgbClr val="17233B"/>
                </a:solidFill>
                <a:latin typeface="Aptos"/>
              </a:rPr>
              <a:t>+ visual crops</a:t>
            </a:r>
            <a:endParaRPr lang="vi-VN"/>
          </a:p>
        </p:txBody>
      </p:sp>
      <p:sp>
        <p:nvSpPr>
          <p:cNvPr id="33" name="Text 33"/>
          <p:cNvSpPr txBox="1"/>
          <p:nvPr/>
        </p:nvSpPr>
        <p:spPr>
          <a:xfrm>
            <a:off x="1517904" y="427939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100">
                <a:solidFill>
                  <a:srgbClr val="596579"/>
                </a:solidFill>
                <a:latin typeface="Aptos"/>
              </a:rPr>
              <a:t>context</a:t>
            </a:r>
            <a:endParaRPr lang="vi-VN"/>
          </a:p>
        </p:txBody>
      </p:sp>
      <p:sp>
        <p:nvSpPr>
          <p:cNvPr id="34" name="Shape 34"/>
          <p:cNvSpPr/>
          <p:nvPr/>
        </p:nvSpPr>
        <p:spPr>
          <a:xfrm>
            <a:off x="6172200" y="3739896"/>
            <a:ext cx="5440680" cy="969264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35" name="Shape 35"/>
          <p:cNvSpPr/>
          <p:nvPr/>
        </p:nvSpPr>
        <p:spPr>
          <a:xfrm>
            <a:off x="6327648" y="4032504"/>
            <a:ext cx="658368" cy="338328"/>
          </a:xfrm>
          <a:prstGeom prst="roundRect">
            <a:avLst/>
          </a:prstGeom>
          <a:solidFill>
            <a:srgbClr val="E4EDFF"/>
          </a:solidFill>
          <a:ln>
            <a:noFill/>
          </a:ln>
        </p:spPr>
      </p:sp>
      <p:sp>
        <p:nvSpPr>
          <p:cNvPr id="36" name="Text 36"/>
          <p:cNvSpPr txBox="1"/>
          <p:nvPr/>
        </p:nvSpPr>
        <p:spPr>
          <a:xfrm>
            <a:off x="6437376" y="4096512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100" b="1">
                <a:solidFill>
                  <a:srgbClr val="2563EB"/>
                </a:solidFill>
                <a:latin typeface="Aptos"/>
              </a:rPr>
              <a:t>E6</a:t>
            </a:r>
            <a:endParaRPr lang="vi-VN"/>
          </a:p>
        </p:txBody>
      </p:sp>
      <p:sp>
        <p:nvSpPr>
          <p:cNvPr id="37" name="Text 37"/>
          <p:cNvSpPr txBox="1"/>
          <p:nvPr/>
        </p:nvSpPr>
        <p:spPr>
          <a:xfrm>
            <a:off x="7150608" y="3922776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600" b="1">
                <a:solidFill>
                  <a:srgbClr val="17233B"/>
                </a:solidFill>
                <a:latin typeface="Aptos"/>
              </a:rPr>
              <a:t>+ temporal evidence</a:t>
            </a:r>
            <a:endParaRPr lang="vi-VN"/>
          </a:p>
        </p:txBody>
      </p:sp>
      <p:sp>
        <p:nvSpPr>
          <p:cNvPr id="38" name="Text 38"/>
          <p:cNvSpPr txBox="1"/>
          <p:nvPr/>
        </p:nvSpPr>
        <p:spPr>
          <a:xfrm>
            <a:off x="7159752" y="4279392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100">
                <a:solidFill>
                  <a:srgbClr val="596579"/>
                </a:solidFill>
                <a:latin typeface="Aptos"/>
              </a:rPr>
              <a:t>context</a:t>
            </a:r>
            <a:endParaRPr lang="vi-VN"/>
          </a:p>
        </p:txBody>
      </p:sp>
      <p:sp>
        <p:nvSpPr>
          <p:cNvPr id="39" name="Shape 39"/>
          <p:cNvSpPr/>
          <p:nvPr/>
        </p:nvSpPr>
        <p:spPr>
          <a:xfrm>
            <a:off x="530352" y="4873752"/>
            <a:ext cx="5440680" cy="969264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40" name="Shape 40"/>
          <p:cNvSpPr/>
          <p:nvPr/>
        </p:nvSpPr>
        <p:spPr>
          <a:xfrm>
            <a:off x="685800" y="5166360"/>
            <a:ext cx="658368" cy="338328"/>
          </a:xfrm>
          <a:prstGeom prst="roundRect">
            <a:avLst/>
          </a:prstGeom>
          <a:solidFill>
            <a:srgbClr val="E4EDFF"/>
          </a:solidFill>
          <a:ln>
            <a:noFill/>
          </a:ln>
        </p:spPr>
      </p:sp>
      <p:sp>
        <p:nvSpPr>
          <p:cNvPr id="41" name="Text 41"/>
          <p:cNvSpPr txBox="1"/>
          <p:nvPr/>
        </p:nvSpPr>
        <p:spPr>
          <a:xfrm>
            <a:off x="795528" y="5230368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100" b="1">
                <a:solidFill>
                  <a:srgbClr val="2563EB"/>
                </a:solidFill>
                <a:latin typeface="Aptos"/>
              </a:rPr>
              <a:t>E7</a:t>
            </a:r>
            <a:endParaRPr lang="vi-VN"/>
          </a:p>
        </p:txBody>
      </p:sp>
      <p:sp>
        <p:nvSpPr>
          <p:cNvPr id="42" name="Text 42"/>
          <p:cNvSpPr txBox="1"/>
          <p:nvPr/>
        </p:nvSpPr>
        <p:spPr>
          <a:xfrm>
            <a:off x="1508760" y="505663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600" b="1">
                <a:solidFill>
                  <a:srgbClr val="17233B"/>
                </a:solidFill>
                <a:latin typeface="Aptos"/>
              </a:rPr>
              <a:t>+ shot summaries</a:t>
            </a:r>
            <a:endParaRPr lang="vi-VN"/>
          </a:p>
        </p:txBody>
      </p:sp>
      <p:sp>
        <p:nvSpPr>
          <p:cNvPr id="43" name="Text 43"/>
          <p:cNvSpPr txBox="1"/>
          <p:nvPr/>
        </p:nvSpPr>
        <p:spPr>
          <a:xfrm>
            <a:off x="1517904" y="5413248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100">
                <a:solidFill>
                  <a:srgbClr val="596579"/>
                </a:solidFill>
                <a:latin typeface="Aptos"/>
              </a:rPr>
              <a:t>context</a:t>
            </a:r>
            <a:endParaRPr lang="vi-VN"/>
          </a:p>
        </p:txBody>
      </p:sp>
      <p:sp>
        <p:nvSpPr>
          <p:cNvPr id="44" name="Shape 44"/>
          <p:cNvSpPr/>
          <p:nvPr/>
        </p:nvSpPr>
        <p:spPr>
          <a:xfrm>
            <a:off x="6172200" y="4873752"/>
            <a:ext cx="5440680" cy="969264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45" name="Shape 45"/>
          <p:cNvSpPr/>
          <p:nvPr/>
        </p:nvSpPr>
        <p:spPr>
          <a:xfrm>
            <a:off x="6327648" y="5166360"/>
            <a:ext cx="658368" cy="3383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6" name="Text 46"/>
          <p:cNvSpPr txBox="1"/>
          <p:nvPr/>
        </p:nvSpPr>
        <p:spPr>
          <a:xfrm>
            <a:off x="6437376" y="5230368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100" b="1">
                <a:solidFill>
                  <a:srgbClr val="FFFFFF"/>
                </a:solidFill>
                <a:latin typeface="Aptos"/>
              </a:rPr>
              <a:t>E8</a:t>
            </a:r>
            <a:endParaRPr lang="vi-VN"/>
          </a:p>
        </p:txBody>
      </p:sp>
      <p:sp>
        <p:nvSpPr>
          <p:cNvPr id="47" name="Text 47"/>
          <p:cNvSpPr txBox="1"/>
          <p:nvPr/>
        </p:nvSpPr>
        <p:spPr>
          <a:xfrm>
            <a:off x="7150608" y="505663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600" b="1">
                <a:solidFill>
                  <a:srgbClr val="17233B"/>
                </a:solidFill>
                <a:latin typeface="Aptos"/>
              </a:rPr>
              <a:t>ReAct agent</a:t>
            </a:r>
            <a:endParaRPr lang="vi-VN"/>
          </a:p>
        </p:txBody>
      </p:sp>
      <p:sp>
        <p:nvSpPr>
          <p:cNvPr id="48" name="Text 48"/>
          <p:cNvSpPr txBox="1"/>
          <p:nvPr/>
        </p:nvSpPr>
        <p:spPr>
          <a:xfrm>
            <a:off x="7159752" y="5413248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100">
                <a:solidFill>
                  <a:srgbClr val="596579"/>
                </a:solidFill>
                <a:latin typeface="Aptos"/>
              </a:rPr>
              <a:t>agent</a:t>
            </a:r>
            <a:endParaRPr lang="vi-V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438912" y="21945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000" b="1">
                <a:solidFill>
                  <a:srgbClr val="0F9E90"/>
                </a:solidFill>
                <a:latin typeface="Aptos"/>
              </a:rPr>
              <a:t>ABLATION</a:t>
            </a:r>
            <a:endParaRPr lang="vi-VN"/>
          </a:p>
        </p:txBody>
      </p:sp>
      <p:sp>
        <p:nvSpPr>
          <p:cNvPr id="5" name="Text 5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2800" b="1">
                <a:solidFill>
                  <a:srgbClr val="17233B"/>
                </a:solidFill>
                <a:latin typeface="Aptos"/>
              </a:rPr>
              <a:t>Retrieval: RRF giúp, SuperGlobal hại</a:t>
            </a:r>
            <a:endParaRPr lang="vi-VN"/>
          </a:p>
        </p:txBody>
      </p:sp>
      <p:sp>
        <p:nvSpPr>
          <p:cNvPr id="6" name="Shape 6"/>
          <p:cNvSpPr/>
          <p:nvPr/>
        </p:nvSpPr>
        <p:spPr>
          <a:xfrm>
            <a:off x="438912" y="1161288"/>
            <a:ext cx="11292840" cy="13716"/>
          </a:xfrm>
          <a:prstGeom prst="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448056" y="6574536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800">
                <a:solidFill>
                  <a:srgbClr val="596579"/>
                </a:solidFill>
                <a:latin typeface="Aptos"/>
              </a:rPr>
              <a:t>VIDEO RAG  /  AIC 2025</a:t>
            </a:r>
            <a:endParaRPr lang="vi-VN"/>
          </a:p>
        </p:txBody>
      </p:sp>
      <p:sp>
        <p:nvSpPr>
          <p:cNvPr id="8" name="Text 8"/>
          <p:cNvSpPr txBox="1"/>
          <p:nvPr/>
        </p:nvSpPr>
        <p:spPr>
          <a:xfrm>
            <a:off x="11119104" y="652881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000">
                <a:solidFill>
                  <a:srgbClr val="596579"/>
                </a:solidFill>
                <a:latin typeface="Aptos"/>
              </a:rPr>
              <a:t>17</a:t>
            </a:r>
            <a:endParaRPr lang="vi-VN"/>
          </a:p>
        </p:txBody>
      </p:sp>
      <p:sp>
        <p:nvSpPr>
          <p:cNvPr id="9" name="Text 9"/>
          <p:cNvSpPr txBox="1"/>
          <p:nvPr/>
        </p:nvSpPr>
        <p:spPr>
          <a:xfrm>
            <a:off x="603504" y="1499616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900" b="1">
                <a:solidFill>
                  <a:srgbClr val="17233B"/>
                </a:solidFill>
                <a:latin typeface="Aptos"/>
              </a:rPr>
              <a:t>Recall@10</a:t>
            </a:r>
            <a:endParaRPr lang="vi-VN"/>
          </a:p>
        </p:txBody>
      </p:sp>
      <p:sp>
        <p:nvSpPr>
          <p:cNvPr id="10" name="Text 10"/>
          <p:cNvSpPr txBox="1"/>
          <p:nvPr/>
        </p:nvSpPr>
        <p:spPr>
          <a:xfrm>
            <a:off x="621792" y="1993392"/>
            <a:ext cx="120700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 b="1">
                <a:solidFill>
                  <a:srgbClr val="17233B"/>
                </a:solidFill>
                <a:latin typeface="Aptos"/>
              </a:rPr>
              <a:t>E1 Dense</a:t>
            </a:r>
            <a:endParaRPr lang="vi-VN"/>
          </a:p>
        </p:txBody>
      </p:sp>
      <p:sp>
        <p:nvSpPr>
          <p:cNvPr id="11" name="Shape 11"/>
          <p:cNvSpPr/>
          <p:nvPr/>
        </p:nvSpPr>
        <p:spPr>
          <a:xfrm>
            <a:off x="1947672" y="2048256"/>
            <a:ext cx="3401568" cy="164592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12" name="Shape 12"/>
          <p:cNvSpPr/>
          <p:nvPr/>
        </p:nvSpPr>
        <p:spPr>
          <a:xfrm>
            <a:off x="1947672" y="2048256"/>
            <a:ext cx="2666829" cy="164592"/>
          </a:xfrm>
          <a:prstGeom prst="roundRect">
            <a:avLst/>
          </a:prstGeom>
          <a:solidFill>
            <a:srgbClr val="596579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5458968" y="198424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300" b="1">
                <a:solidFill>
                  <a:srgbClr val="596579"/>
                </a:solidFill>
                <a:latin typeface="Aptos"/>
              </a:rPr>
              <a:t>0.392</a:t>
            </a:r>
            <a:endParaRPr lang="vi-VN"/>
          </a:p>
        </p:txBody>
      </p:sp>
      <p:sp>
        <p:nvSpPr>
          <p:cNvPr id="14" name="Text 14"/>
          <p:cNvSpPr txBox="1"/>
          <p:nvPr/>
        </p:nvSpPr>
        <p:spPr>
          <a:xfrm>
            <a:off x="621792" y="2651760"/>
            <a:ext cx="120700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 b="1">
                <a:solidFill>
                  <a:srgbClr val="17233B"/>
                </a:solidFill>
                <a:latin typeface="Aptos"/>
              </a:rPr>
              <a:t>E2 +RRF</a:t>
            </a:r>
            <a:endParaRPr lang="vi-VN"/>
          </a:p>
        </p:txBody>
      </p:sp>
      <p:sp>
        <p:nvSpPr>
          <p:cNvPr id="15" name="Shape 15"/>
          <p:cNvSpPr/>
          <p:nvPr/>
        </p:nvSpPr>
        <p:spPr>
          <a:xfrm>
            <a:off x="1947672" y="2706624"/>
            <a:ext cx="3401568" cy="164592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16" name="Shape 16"/>
          <p:cNvSpPr/>
          <p:nvPr/>
        </p:nvSpPr>
        <p:spPr>
          <a:xfrm>
            <a:off x="1947672" y="2706624"/>
            <a:ext cx="3115836" cy="164592"/>
          </a:xfrm>
          <a:prstGeom prst="roundRect">
            <a:avLst/>
          </a:prstGeom>
          <a:solidFill>
            <a:srgbClr val="0F9E90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5458968" y="2642616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300" b="1">
                <a:solidFill>
                  <a:srgbClr val="0F9E90"/>
                </a:solidFill>
                <a:latin typeface="Aptos"/>
              </a:rPr>
              <a:t>0.458</a:t>
            </a:r>
            <a:endParaRPr lang="vi-VN"/>
          </a:p>
        </p:txBody>
      </p:sp>
      <p:sp>
        <p:nvSpPr>
          <p:cNvPr id="18" name="Text 18"/>
          <p:cNvSpPr txBox="1"/>
          <p:nvPr/>
        </p:nvSpPr>
        <p:spPr>
          <a:xfrm>
            <a:off x="621792" y="3310128"/>
            <a:ext cx="120700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 b="1">
                <a:solidFill>
                  <a:srgbClr val="17233B"/>
                </a:solidFill>
                <a:latin typeface="Aptos"/>
              </a:rPr>
              <a:t>E3 +Object</a:t>
            </a:r>
            <a:endParaRPr lang="vi-VN"/>
          </a:p>
        </p:txBody>
      </p:sp>
      <p:sp>
        <p:nvSpPr>
          <p:cNvPr id="19" name="Shape 19"/>
          <p:cNvSpPr/>
          <p:nvPr/>
        </p:nvSpPr>
        <p:spPr>
          <a:xfrm>
            <a:off x="1947672" y="3364992"/>
            <a:ext cx="3401568" cy="164592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20" name="Shape 20"/>
          <p:cNvSpPr/>
          <p:nvPr/>
        </p:nvSpPr>
        <p:spPr>
          <a:xfrm>
            <a:off x="1947672" y="3364992"/>
            <a:ext cx="3115836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5458968" y="3300984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300" b="1">
                <a:solidFill>
                  <a:srgbClr val="2563EB"/>
                </a:solidFill>
                <a:latin typeface="Aptos"/>
              </a:rPr>
              <a:t>0.458</a:t>
            </a:r>
            <a:endParaRPr lang="vi-VN"/>
          </a:p>
        </p:txBody>
      </p:sp>
      <p:sp>
        <p:nvSpPr>
          <p:cNvPr id="22" name="Text 22"/>
          <p:cNvSpPr txBox="1"/>
          <p:nvPr/>
        </p:nvSpPr>
        <p:spPr>
          <a:xfrm>
            <a:off x="621792" y="3968496"/>
            <a:ext cx="120700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 b="1">
                <a:solidFill>
                  <a:srgbClr val="17233B"/>
                </a:solidFill>
                <a:latin typeface="Aptos"/>
              </a:rPr>
              <a:t>E4 +SG</a:t>
            </a:r>
            <a:endParaRPr lang="vi-VN"/>
          </a:p>
        </p:txBody>
      </p:sp>
      <p:sp>
        <p:nvSpPr>
          <p:cNvPr id="23" name="Shape 23"/>
          <p:cNvSpPr/>
          <p:nvPr/>
        </p:nvSpPr>
        <p:spPr>
          <a:xfrm>
            <a:off x="1947672" y="4023360"/>
            <a:ext cx="3401568" cy="164592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24" name="Shape 24"/>
          <p:cNvSpPr/>
          <p:nvPr/>
        </p:nvSpPr>
        <p:spPr>
          <a:xfrm>
            <a:off x="1947672" y="4023360"/>
            <a:ext cx="2462735" cy="164592"/>
          </a:xfrm>
          <a:prstGeom prst="roundRect">
            <a:avLst/>
          </a:prstGeom>
          <a:solidFill>
            <a:srgbClr val="C24152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5458968" y="395935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300" b="1">
                <a:solidFill>
                  <a:srgbClr val="C24152"/>
                </a:solidFill>
                <a:latin typeface="Aptos"/>
              </a:rPr>
              <a:t>0.362</a:t>
            </a:r>
            <a:endParaRPr lang="vi-VN"/>
          </a:p>
        </p:txBody>
      </p:sp>
      <p:sp>
        <p:nvSpPr>
          <p:cNvPr id="26" name="Text 26"/>
          <p:cNvSpPr txBox="1"/>
          <p:nvPr/>
        </p:nvSpPr>
        <p:spPr>
          <a:xfrm>
            <a:off x="6446520" y="1499616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900" b="1">
                <a:solidFill>
                  <a:srgbClr val="17233B"/>
                </a:solidFill>
                <a:latin typeface="Aptos"/>
              </a:rPr>
              <a:t>MRR@10</a:t>
            </a:r>
            <a:endParaRPr lang="vi-VN"/>
          </a:p>
        </p:txBody>
      </p:sp>
      <p:sp>
        <p:nvSpPr>
          <p:cNvPr id="27" name="Text 27"/>
          <p:cNvSpPr txBox="1"/>
          <p:nvPr/>
        </p:nvSpPr>
        <p:spPr>
          <a:xfrm>
            <a:off x="6464808" y="1993392"/>
            <a:ext cx="120700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 b="1">
                <a:solidFill>
                  <a:srgbClr val="17233B"/>
                </a:solidFill>
                <a:latin typeface="Aptos"/>
              </a:rPr>
              <a:t>E1 Dense</a:t>
            </a:r>
            <a:endParaRPr lang="vi-VN"/>
          </a:p>
        </p:txBody>
      </p:sp>
      <p:sp>
        <p:nvSpPr>
          <p:cNvPr id="28" name="Shape 28"/>
          <p:cNvSpPr/>
          <p:nvPr/>
        </p:nvSpPr>
        <p:spPr>
          <a:xfrm>
            <a:off x="7790688" y="2048256"/>
            <a:ext cx="3154680" cy="164592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29" name="Shape 29"/>
          <p:cNvSpPr/>
          <p:nvPr/>
        </p:nvSpPr>
        <p:spPr>
          <a:xfrm>
            <a:off x="7790688" y="2048256"/>
            <a:ext cx="2192503" cy="164592"/>
          </a:xfrm>
          <a:prstGeom prst="roundRect">
            <a:avLst/>
          </a:prstGeom>
          <a:solidFill>
            <a:srgbClr val="596579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11055096" y="198424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300" b="1">
                <a:solidFill>
                  <a:srgbClr val="596579"/>
                </a:solidFill>
                <a:latin typeface="Aptos"/>
              </a:rPr>
              <a:t>0.417</a:t>
            </a:r>
            <a:endParaRPr lang="vi-VN"/>
          </a:p>
        </p:txBody>
      </p:sp>
      <p:sp>
        <p:nvSpPr>
          <p:cNvPr id="31" name="Text 31"/>
          <p:cNvSpPr txBox="1"/>
          <p:nvPr/>
        </p:nvSpPr>
        <p:spPr>
          <a:xfrm>
            <a:off x="6464808" y="2651760"/>
            <a:ext cx="120700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 b="1">
                <a:solidFill>
                  <a:srgbClr val="17233B"/>
                </a:solidFill>
                <a:latin typeface="Aptos"/>
              </a:rPr>
              <a:t>E2 +RRF</a:t>
            </a:r>
            <a:endParaRPr lang="vi-VN"/>
          </a:p>
        </p:txBody>
      </p:sp>
      <p:sp>
        <p:nvSpPr>
          <p:cNvPr id="32" name="Shape 32"/>
          <p:cNvSpPr/>
          <p:nvPr/>
        </p:nvSpPr>
        <p:spPr>
          <a:xfrm>
            <a:off x="7790688" y="2706624"/>
            <a:ext cx="3154680" cy="164592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33" name="Shape 33"/>
          <p:cNvSpPr/>
          <p:nvPr/>
        </p:nvSpPr>
        <p:spPr>
          <a:xfrm>
            <a:off x="7790688" y="2706624"/>
            <a:ext cx="2818181" cy="164592"/>
          </a:xfrm>
          <a:prstGeom prst="roundRect">
            <a:avLst/>
          </a:prstGeom>
          <a:solidFill>
            <a:srgbClr val="0F9E90"/>
          </a:solidFill>
          <a:ln>
            <a:noFill/>
          </a:ln>
        </p:spPr>
      </p:sp>
      <p:sp>
        <p:nvSpPr>
          <p:cNvPr id="34" name="Text 34"/>
          <p:cNvSpPr txBox="1"/>
          <p:nvPr/>
        </p:nvSpPr>
        <p:spPr>
          <a:xfrm>
            <a:off x="11055096" y="2642616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300" b="1">
                <a:solidFill>
                  <a:srgbClr val="0F9E90"/>
                </a:solidFill>
                <a:latin typeface="Aptos"/>
              </a:rPr>
              <a:t>0.536</a:t>
            </a:r>
            <a:endParaRPr lang="vi-VN"/>
          </a:p>
        </p:txBody>
      </p:sp>
      <p:sp>
        <p:nvSpPr>
          <p:cNvPr id="35" name="Text 35"/>
          <p:cNvSpPr txBox="1"/>
          <p:nvPr/>
        </p:nvSpPr>
        <p:spPr>
          <a:xfrm>
            <a:off x="6464808" y="3310128"/>
            <a:ext cx="120700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 b="1">
                <a:solidFill>
                  <a:srgbClr val="17233B"/>
                </a:solidFill>
                <a:latin typeface="Aptos"/>
              </a:rPr>
              <a:t>E3 +Object</a:t>
            </a:r>
            <a:endParaRPr lang="vi-VN"/>
          </a:p>
        </p:txBody>
      </p:sp>
      <p:sp>
        <p:nvSpPr>
          <p:cNvPr id="36" name="Shape 36"/>
          <p:cNvSpPr/>
          <p:nvPr/>
        </p:nvSpPr>
        <p:spPr>
          <a:xfrm>
            <a:off x="7790688" y="3364992"/>
            <a:ext cx="3154680" cy="164592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37" name="Shape 37"/>
          <p:cNvSpPr/>
          <p:nvPr/>
        </p:nvSpPr>
        <p:spPr>
          <a:xfrm>
            <a:off x="7790688" y="3364992"/>
            <a:ext cx="2818181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8" name="Text 38"/>
          <p:cNvSpPr txBox="1"/>
          <p:nvPr/>
        </p:nvSpPr>
        <p:spPr>
          <a:xfrm>
            <a:off x="11055096" y="3300984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300" b="1">
                <a:solidFill>
                  <a:srgbClr val="2563EB"/>
                </a:solidFill>
                <a:latin typeface="Aptos"/>
              </a:rPr>
              <a:t>0.536</a:t>
            </a:r>
            <a:endParaRPr lang="vi-VN"/>
          </a:p>
        </p:txBody>
      </p:sp>
      <p:sp>
        <p:nvSpPr>
          <p:cNvPr id="39" name="Text 39"/>
          <p:cNvSpPr txBox="1"/>
          <p:nvPr/>
        </p:nvSpPr>
        <p:spPr>
          <a:xfrm>
            <a:off x="6464808" y="3968496"/>
            <a:ext cx="120700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 b="1">
                <a:solidFill>
                  <a:srgbClr val="17233B"/>
                </a:solidFill>
                <a:latin typeface="Aptos"/>
              </a:rPr>
              <a:t>E4 +SG</a:t>
            </a:r>
            <a:endParaRPr lang="vi-VN"/>
          </a:p>
        </p:txBody>
      </p:sp>
      <p:sp>
        <p:nvSpPr>
          <p:cNvPr id="40" name="Shape 40"/>
          <p:cNvSpPr/>
          <p:nvPr/>
        </p:nvSpPr>
        <p:spPr>
          <a:xfrm>
            <a:off x="7790688" y="4023360"/>
            <a:ext cx="3154680" cy="164592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41" name="Shape 41"/>
          <p:cNvSpPr/>
          <p:nvPr/>
        </p:nvSpPr>
        <p:spPr>
          <a:xfrm>
            <a:off x="7790688" y="4023360"/>
            <a:ext cx="1714043" cy="164592"/>
          </a:xfrm>
          <a:prstGeom prst="roundRect">
            <a:avLst/>
          </a:prstGeom>
          <a:solidFill>
            <a:srgbClr val="C24152"/>
          </a:solidFill>
          <a:ln>
            <a:noFill/>
          </a:ln>
        </p:spPr>
      </p:sp>
      <p:sp>
        <p:nvSpPr>
          <p:cNvPr id="42" name="Text 42"/>
          <p:cNvSpPr txBox="1"/>
          <p:nvPr/>
        </p:nvSpPr>
        <p:spPr>
          <a:xfrm>
            <a:off x="11055096" y="395935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300" b="1">
                <a:solidFill>
                  <a:srgbClr val="C24152"/>
                </a:solidFill>
                <a:latin typeface="Aptos"/>
              </a:rPr>
              <a:t>0.326</a:t>
            </a:r>
            <a:endParaRPr lang="vi-VN"/>
          </a:p>
        </p:txBody>
      </p:sp>
      <p:sp>
        <p:nvSpPr>
          <p:cNvPr id="43" name="Shape 43"/>
          <p:cNvSpPr/>
          <p:nvPr/>
        </p:nvSpPr>
        <p:spPr>
          <a:xfrm>
            <a:off x="557784" y="4910328"/>
            <a:ext cx="11009376" cy="1005840"/>
          </a:xfrm>
          <a:prstGeom prst="roundRect">
            <a:avLst/>
          </a:prstGeom>
          <a:solidFill>
            <a:srgbClr val="F3F7FC"/>
          </a:solidFill>
          <a:ln>
            <a:noFill/>
          </a:ln>
        </p:spPr>
      </p:sp>
      <p:sp>
        <p:nvSpPr>
          <p:cNvPr id="44" name="Text 44"/>
          <p:cNvSpPr txBox="1"/>
          <p:nvPr/>
        </p:nvSpPr>
        <p:spPr>
          <a:xfrm>
            <a:off x="777240" y="5212080"/>
            <a:ext cx="105156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900" b="1">
                <a:solidFill>
                  <a:srgbClr val="17233B"/>
                </a:solidFill>
                <a:latin typeface="Aptos"/>
              </a:rPr>
              <a:t>E1→E2: Recall@10 +17%, MRR@10 +29%. E4 giảm MRR@10 khoảng 0,21.</a:t>
            </a:r>
            <a:endParaRPr lang="vi-V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438912" y="21945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000" b="1">
                <a:solidFill>
                  <a:srgbClr val="0F9E90"/>
                </a:solidFill>
                <a:latin typeface="Aptos"/>
              </a:rPr>
              <a:t>ABLATION</a:t>
            </a:r>
            <a:endParaRPr lang="vi-VN"/>
          </a:p>
        </p:txBody>
      </p:sp>
      <p:sp>
        <p:nvSpPr>
          <p:cNvPr id="5" name="Text 5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2800" b="1">
                <a:solidFill>
                  <a:srgbClr val="17233B"/>
                </a:solidFill>
                <a:latin typeface="Aptos"/>
              </a:rPr>
              <a:t>VQA: agent cải thiện chất lượng context</a:t>
            </a:r>
            <a:endParaRPr lang="vi-VN"/>
          </a:p>
        </p:txBody>
      </p:sp>
      <p:sp>
        <p:nvSpPr>
          <p:cNvPr id="6" name="Shape 6"/>
          <p:cNvSpPr/>
          <p:nvPr/>
        </p:nvSpPr>
        <p:spPr>
          <a:xfrm>
            <a:off x="438912" y="1161288"/>
            <a:ext cx="11292840" cy="13716"/>
          </a:xfrm>
          <a:prstGeom prst="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448056" y="6574536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800">
                <a:solidFill>
                  <a:srgbClr val="596579"/>
                </a:solidFill>
                <a:latin typeface="Aptos"/>
              </a:rPr>
              <a:t>VIDEO RAG  /  AIC 2025</a:t>
            </a:r>
            <a:endParaRPr lang="vi-VN"/>
          </a:p>
        </p:txBody>
      </p:sp>
      <p:sp>
        <p:nvSpPr>
          <p:cNvPr id="8" name="Text 8"/>
          <p:cNvSpPr txBox="1"/>
          <p:nvPr/>
        </p:nvSpPr>
        <p:spPr>
          <a:xfrm>
            <a:off x="11119104" y="652881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000">
                <a:solidFill>
                  <a:srgbClr val="596579"/>
                </a:solidFill>
                <a:latin typeface="Aptos"/>
              </a:rPr>
              <a:t>18</a:t>
            </a:r>
            <a:endParaRPr lang="vi-VN"/>
          </a:p>
        </p:txBody>
      </p:sp>
      <p:sp>
        <p:nvSpPr>
          <p:cNvPr id="9" name="Text 9"/>
          <p:cNvSpPr txBox="1"/>
          <p:nvPr/>
        </p:nvSpPr>
        <p:spPr>
          <a:xfrm>
            <a:off x="658368" y="1499616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200" b="1">
                <a:solidFill>
                  <a:srgbClr val="596579"/>
                </a:solidFill>
                <a:latin typeface="Aptos"/>
              </a:rPr>
              <a:t>Config</a:t>
            </a:r>
            <a:endParaRPr lang="vi-VN"/>
          </a:p>
        </p:txBody>
      </p:sp>
      <p:sp>
        <p:nvSpPr>
          <p:cNvPr id="10" name="Text 10"/>
          <p:cNvSpPr txBox="1"/>
          <p:nvPr/>
        </p:nvSpPr>
        <p:spPr>
          <a:xfrm>
            <a:off x="2002536" y="1499616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200" b="1">
                <a:solidFill>
                  <a:srgbClr val="596579"/>
                </a:solidFill>
                <a:latin typeface="Aptos"/>
              </a:rPr>
              <a:t>Context recall</a:t>
            </a:r>
            <a:endParaRPr lang="vi-VN"/>
          </a:p>
        </p:txBody>
      </p:sp>
      <p:sp>
        <p:nvSpPr>
          <p:cNvPr id="11" name="Text 11"/>
          <p:cNvSpPr txBox="1"/>
          <p:nvPr/>
        </p:nvSpPr>
        <p:spPr>
          <a:xfrm>
            <a:off x="5285232" y="1499616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200" b="1">
                <a:solidFill>
                  <a:srgbClr val="596579"/>
                </a:solidFill>
                <a:latin typeface="Aptos"/>
              </a:rPr>
              <a:t>Context precision</a:t>
            </a:r>
            <a:endParaRPr lang="vi-VN"/>
          </a:p>
        </p:txBody>
      </p:sp>
      <p:sp>
        <p:nvSpPr>
          <p:cNvPr id="12" name="Text 12"/>
          <p:cNvSpPr txBox="1"/>
          <p:nvPr/>
        </p:nvSpPr>
        <p:spPr>
          <a:xfrm>
            <a:off x="8695944" y="1499616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200" b="1">
                <a:solidFill>
                  <a:srgbClr val="596579"/>
                </a:solidFill>
                <a:latin typeface="Aptos"/>
              </a:rPr>
              <a:t>Faithfulness</a:t>
            </a:r>
            <a:endParaRPr lang="vi-VN"/>
          </a:p>
        </p:txBody>
      </p:sp>
      <p:sp>
        <p:nvSpPr>
          <p:cNvPr id="13" name="Shape 13"/>
          <p:cNvSpPr/>
          <p:nvPr/>
        </p:nvSpPr>
        <p:spPr>
          <a:xfrm>
            <a:off x="557784" y="1883664"/>
            <a:ext cx="11000232" cy="393192"/>
          </a:xfrm>
          <a:prstGeom prst="rect">
            <a:avLst/>
          </a:prstGeom>
          <a:solidFill>
            <a:srgbClr val="F3F7FC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685800" y="1929384"/>
            <a:ext cx="73152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E1</a:t>
            </a:r>
            <a:endParaRPr lang="vi-VN"/>
          </a:p>
        </p:txBody>
      </p:sp>
      <p:sp>
        <p:nvSpPr>
          <p:cNvPr id="15" name="Shape 15"/>
          <p:cNvSpPr/>
          <p:nvPr/>
        </p:nvSpPr>
        <p:spPr>
          <a:xfrm>
            <a:off x="2002536" y="2020824"/>
            <a:ext cx="1645920" cy="100584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16" name="Shape 16"/>
          <p:cNvSpPr/>
          <p:nvPr/>
        </p:nvSpPr>
        <p:spPr>
          <a:xfrm>
            <a:off x="2002536" y="2020824"/>
            <a:ext cx="869046" cy="1005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3758184" y="1929384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>
                <a:solidFill>
                  <a:srgbClr val="17233B"/>
                </a:solidFill>
                <a:latin typeface="Aptos"/>
              </a:rPr>
              <a:t>0.528</a:t>
            </a:r>
            <a:endParaRPr lang="vi-VN"/>
          </a:p>
        </p:txBody>
      </p:sp>
      <p:sp>
        <p:nvSpPr>
          <p:cNvPr id="18" name="Shape 18"/>
          <p:cNvSpPr/>
          <p:nvPr/>
        </p:nvSpPr>
        <p:spPr>
          <a:xfrm>
            <a:off x="5285232" y="2020824"/>
            <a:ext cx="1645920" cy="100584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19" name="Shape 19"/>
          <p:cNvSpPr/>
          <p:nvPr/>
        </p:nvSpPr>
        <p:spPr>
          <a:xfrm>
            <a:off x="5285232" y="2020824"/>
            <a:ext cx="686349" cy="100584"/>
          </a:xfrm>
          <a:prstGeom prst="roundRect">
            <a:avLst/>
          </a:prstGeom>
          <a:solidFill>
            <a:srgbClr val="0F9E90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7040880" y="1929384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>
                <a:solidFill>
                  <a:srgbClr val="17233B"/>
                </a:solidFill>
                <a:latin typeface="Aptos"/>
              </a:rPr>
              <a:t>0.417</a:t>
            </a:r>
            <a:endParaRPr lang="vi-VN"/>
          </a:p>
        </p:txBody>
      </p:sp>
      <p:sp>
        <p:nvSpPr>
          <p:cNvPr id="21" name="Shape 21"/>
          <p:cNvSpPr/>
          <p:nvPr/>
        </p:nvSpPr>
        <p:spPr>
          <a:xfrm>
            <a:off x="8695944" y="2020824"/>
            <a:ext cx="1499616" cy="100584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22" name="Shape 22"/>
          <p:cNvSpPr/>
          <p:nvPr/>
        </p:nvSpPr>
        <p:spPr>
          <a:xfrm>
            <a:off x="8695944" y="2020824"/>
            <a:ext cx="1178698" cy="100584"/>
          </a:xfrm>
          <a:prstGeom prst="roundRect">
            <a:avLst/>
          </a:prstGeom>
          <a:solidFill>
            <a:srgbClr val="D88A17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10305288" y="1929384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>
                <a:solidFill>
                  <a:srgbClr val="17233B"/>
                </a:solidFill>
                <a:latin typeface="Aptos"/>
              </a:rPr>
              <a:t>0.786</a:t>
            </a:r>
            <a:endParaRPr lang="vi-VN"/>
          </a:p>
        </p:txBody>
      </p:sp>
      <p:sp>
        <p:nvSpPr>
          <p:cNvPr id="24" name="Text 24"/>
          <p:cNvSpPr txBox="1"/>
          <p:nvPr/>
        </p:nvSpPr>
        <p:spPr>
          <a:xfrm>
            <a:off x="685800" y="2377440"/>
            <a:ext cx="73152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E2</a:t>
            </a:r>
            <a:endParaRPr lang="vi-VN"/>
          </a:p>
        </p:txBody>
      </p:sp>
      <p:sp>
        <p:nvSpPr>
          <p:cNvPr id="25" name="Shape 25"/>
          <p:cNvSpPr/>
          <p:nvPr/>
        </p:nvSpPr>
        <p:spPr>
          <a:xfrm>
            <a:off x="2002536" y="2468880"/>
            <a:ext cx="1645920" cy="100584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26" name="Shape 26"/>
          <p:cNvSpPr/>
          <p:nvPr/>
        </p:nvSpPr>
        <p:spPr>
          <a:xfrm>
            <a:off x="2002536" y="2468880"/>
            <a:ext cx="776874" cy="1005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3758184" y="237744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>
                <a:solidFill>
                  <a:srgbClr val="17233B"/>
                </a:solidFill>
                <a:latin typeface="Aptos"/>
              </a:rPr>
              <a:t>0.472</a:t>
            </a:r>
            <a:endParaRPr lang="vi-VN"/>
          </a:p>
        </p:txBody>
      </p:sp>
      <p:sp>
        <p:nvSpPr>
          <p:cNvPr id="28" name="Shape 28"/>
          <p:cNvSpPr/>
          <p:nvPr/>
        </p:nvSpPr>
        <p:spPr>
          <a:xfrm>
            <a:off x="5285232" y="2468880"/>
            <a:ext cx="1645920" cy="100584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29" name="Shape 29"/>
          <p:cNvSpPr/>
          <p:nvPr/>
        </p:nvSpPr>
        <p:spPr>
          <a:xfrm>
            <a:off x="5285232" y="2468880"/>
            <a:ext cx="783458" cy="100584"/>
          </a:xfrm>
          <a:prstGeom prst="roundRect">
            <a:avLst/>
          </a:prstGeom>
          <a:solidFill>
            <a:srgbClr val="0F9E90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7040880" y="237744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>
                <a:solidFill>
                  <a:srgbClr val="17233B"/>
                </a:solidFill>
                <a:latin typeface="Aptos"/>
              </a:rPr>
              <a:t>0.476</a:t>
            </a:r>
            <a:endParaRPr lang="vi-VN"/>
          </a:p>
        </p:txBody>
      </p:sp>
      <p:sp>
        <p:nvSpPr>
          <p:cNvPr id="31" name="Shape 31"/>
          <p:cNvSpPr/>
          <p:nvPr/>
        </p:nvSpPr>
        <p:spPr>
          <a:xfrm>
            <a:off x="8695944" y="2468880"/>
            <a:ext cx="1499616" cy="100584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32" name="Shape 32"/>
          <p:cNvSpPr/>
          <p:nvPr/>
        </p:nvSpPr>
        <p:spPr>
          <a:xfrm>
            <a:off x="8695944" y="2468880"/>
            <a:ext cx="856281" cy="100584"/>
          </a:xfrm>
          <a:prstGeom prst="roundRect">
            <a:avLst/>
          </a:prstGeom>
          <a:solidFill>
            <a:srgbClr val="D88A17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10305288" y="237744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>
                <a:solidFill>
                  <a:srgbClr val="17233B"/>
                </a:solidFill>
                <a:latin typeface="Aptos"/>
              </a:rPr>
              <a:t>0.571</a:t>
            </a:r>
            <a:endParaRPr lang="vi-VN"/>
          </a:p>
        </p:txBody>
      </p:sp>
      <p:sp>
        <p:nvSpPr>
          <p:cNvPr id="34" name="Shape 34"/>
          <p:cNvSpPr/>
          <p:nvPr/>
        </p:nvSpPr>
        <p:spPr>
          <a:xfrm>
            <a:off x="557784" y="2779776"/>
            <a:ext cx="11000232" cy="393192"/>
          </a:xfrm>
          <a:prstGeom prst="rect">
            <a:avLst/>
          </a:prstGeom>
          <a:solidFill>
            <a:srgbClr val="F3F7FC"/>
          </a:solidFill>
          <a:ln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685800" y="2825496"/>
            <a:ext cx="73152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E3</a:t>
            </a:r>
            <a:endParaRPr lang="vi-VN"/>
          </a:p>
        </p:txBody>
      </p:sp>
      <p:sp>
        <p:nvSpPr>
          <p:cNvPr id="36" name="Shape 36"/>
          <p:cNvSpPr/>
          <p:nvPr/>
        </p:nvSpPr>
        <p:spPr>
          <a:xfrm>
            <a:off x="2002536" y="2916936"/>
            <a:ext cx="1645920" cy="100584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37" name="Shape 37"/>
          <p:cNvSpPr/>
          <p:nvPr/>
        </p:nvSpPr>
        <p:spPr>
          <a:xfrm>
            <a:off x="2002536" y="2916936"/>
            <a:ext cx="1051743" cy="1005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8" name="Text 38"/>
          <p:cNvSpPr txBox="1"/>
          <p:nvPr/>
        </p:nvSpPr>
        <p:spPr>
          <a:xfrm>
            <a:off x="3758184" y="2825496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>
                <a:solidFill>
                  <a:srgbClr val="17233B"/>
                </a:solidFill>
                <a:latin typeface="Aptos"/>
              </a:rPr>
              <a:t>0.639</a:t>
            </a:r>
            <a:endParaRPr lang="vi-VN"/>
          </a:p>
        </p:txBody>
      </p:sp>
      <p:sp>
        <p:nvSpPr>
          <p:cNvPr id="39" name="Shape 39"/>
          <p:cNvSpPr/>
          <p:nvPr/>
        </p:nvSpPr>
        <p:spPr>
          <a:xfrm>
            <a:off x="5285232" y="2916936"/>
            <a:ext cx="1645920" cy="100584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40" name="Shape 40"/>
          <p:cNvSpPr/>
          <p:nvPr/>
        </p:nvSpPr>
        <p:spPr>
          <a:xfrm>
            <a:off x="5285232" y="2916936"/>
            <a:ext cx="783458" cy="100584"/>
          </a:xfrm>
          <a:prstGeom prst="roundRect">
            <a:avLst/>
          </a:prstGeom>
          <a:solidFill>
            <a:srgbClr val="0F9E90"/>
          </a:solidFill>
          <a:ln>
            <a:noFill/>
          </a:ln>
        </p:spPr>
      </p:sp>
      <p:sp>
        <p:nvSpPr>
          <p:cNvPr id="41" name="Text 41"/>
          <p:cNvSpPr txBox="1"/>
          <p:nvPr/>
        </p:nvSpPr>
        <p:spPr>
          <a:xfrm>
            <a:off x="7040880" y="2825496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>
                <a:solidFill>
                  <a:srgbClr val="17233B"/>
                </a:solidFill>
                <a:latin typeface="Aptos"/>
              </a:rPr>
              <a:t>0.476</a:t>
            </a:r>
            <a:endParaRPr lang="vi-VN"/>
          </a:p>
        </p:txBody>
      </p:sp>
      <p:sp>
        <p:nvSpPr>
          <p:cNvPr id="42" name="Shape 42"/>
          <p:cNvSpPr/>
          <p:nvPr/>
        </p:nvSpPr>
        <p:spPr>
          <a:xfrm>
            <a:off x="8695944" y="2916936"/>
            <a:ext cx="1499616" cy="100584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43" name="Shape 43"/>
          <p:cNvSpPr/>
          <p:nvPr/>
        </p:nvSpPr>
        <p:spPr>
          <a:xfrm>
            <a:off x="8695944" y="2916936"/>
            <a:ext cx="1037734" cy="100584"/>
          </a:xfrm>
          <a:prstGeom prst="roundRect">
            <a:avLst/>
          </a:prstGeom>
          <a:solidFill>
            <a:srgbClr val="D88A17"/>
          </a:solidFill>
          <a:ln>
            <a:noFill/>
          </a:ln>
        </p:spPr>
      </p:sp>
      <p:sp>
        <p:nvSpPr>
          <p:cNvPr id="44" name="Text 44"/>
          <p:cNvSpPr txBox="1"/>
          <p:nvPr/>
        </p:nvSpPr>
        <p:spPr>
          <a:xfrm>
            <a:off x="10305288" y="2825496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>
                <a:solidFill>
                  <a:srgbClr val="17233B"/>
                </a:solidFill>
                <a:latin typeface="Aptos"/>
              </a:rPr>
              <a:t>0.692</a:t>
            </a:r>
            <a:endParaRPr lang="vi-VN"/>
          </a:p>
        </p:txBody>
      </p:sp>
      <p:sp>
        <p:nvSpPr>
          <p:cNvPr id="45" name="Text 45"/>
          <p:cNvSpPr txBox="1"/>
          <p:nvPr/>
        </p:nvSpPr>
        <p:spPr>
          <a:xfrm>
            <a:off x="685800" y="3273552"/>
            <a:ext cx="73152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E4</a:t>
            </a:r>
            <a:endParaRPr lang="vi-VN"/>
          </a:p>
        </p:txBody>
      </p:sp>
      <p:sp>
        <p:nvSpPr>
          <p:cNvPr id="46" name="Shape 46"/>
          <p:cNvSpPr/>
          <p:nvPr/>
        </p:nvSpPr>
        <p:spPr>
          <a:xfrm>
            <a:off x="2002536" y="3364992"/>
            <a:ext cx="1645920" cy="100584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47" name="Shape 47"/>
          <p:cNvSpPr/>
          <p:nvPr/>
        </p:nvSpPr>
        <p:spPr>
          <a:xfrm>
            <a:off x="2002536" y="3364992"/>
            <a:ext cx="548091" cy="1005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8" name="Text 48"/>
          <p:cNvSpPr txBox="1"/>
          <p:nvPr/>
        </p:nvSpPr>
        <p:spPr>
          <a:xfrm>
            <a:off x="3758184" y="32735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>
                <a:solidFill>
                  <a:srgbClr val="17233B"/>
                </a:solidFill>
                <a:latin typeface="Aptos"/>
              </a:rPr>
              <a:t>0.333</a:t>
            </a:r>
            <a:endParaRPr lang="vi-VN"/>
          </a:p>
        </p:txBody>
      </p:sp>
      <p:sp>
        <p:nvSpPr>
          <p:cNvPr id="49" name="Shape 49"/>
          <p:cNvSpPr/>
          <p:nvPr/>
        </p:nvSpPr>
        <p:spPr>
          <a:xfrm>
            <a:off x="5285232" y="3364992"/>
            <a:ext cx="1645920" cy="100584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50" name="Shape 50"/>
          <p:cNvSpPr/>
          <p:nvPr/>
        </p:nvSpPr>
        <p:spPr>
          <a:xfrm>
            <a:off x="5285232" y="3364992"/>
            <a:ext cx="177759" cy="100584"/>
          </a:xfrm>
          <a:prstGeom prst="roundRect">
            <a:avLst/>
          </a:prstGeom>
          <a:solidFill>
            <a:srgbClr val="0F9E90"/>
          </a:solidFill>
          <a:ln>
            <a:noFill/>
          </a:ln>
        </p:spPr>
      </p:sp>
      <p:sp>
        <p:nvSpPr>
          <p:cNvPr id="51" name="Text 51"/>
          <p:cNvSpPr txBox="1"/>
          <p:nvPr/>
        </p:nvSpPr>
        <p:spPr>
          <a:xfrm>
            <a:off x="7040880" y="32735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>
                <a:solidFill>
                  <a:srgbClr val="17233B"/>
                </a:solidFill>
                <a:latin typeface="Aptos"/>
              </a:rPr>
              <a:t>0.108</a:t>
            </a:r>
            <a:endParaRPr lang="vi-VN"/>
          </a:p>
        </p:txBody>
      </p:sp>
      <p:sp>
        <p:nvSpPr>
          <p:cNvPr id="52" name="Shape 52"/>
          <p:cNvSpPr/>
          <p:nvPr/>
        </p:nvSpPr>
        <p:spPr>
          <a:xfrm>
            <a:off x="8695944" y="3364992"/>
            <a:ext cx="1499616" cy="100584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53" name="Shape 53"/>
          <p:cNvSpPr/>
          <p:nvPr/>
        </p:nvSpPr>
        <p:spPr>
          <a:xfrm>
            <a:off x="8695944" y="3364992"/>
            <a:ext cx="1499616" cy="100584"/>
          </a:xfrm>
          <a:prstGeom prst="roundRect">
            <a:avLst/>
          </a:prstGeom>
          <a:solidFill>
            <a:srgbClr val="D88A17"/>
          </a:solidFill>
          <a:ln>
            <a:noFill/>
          </a:ln>
        </p:spPr>
      </p:sp>
      <p:sp>
        <p:nvSpPr>
          <p:cNvPr id="54" name="Text 54"/>
          <p:cNvSpPr txBox="1"/>
          <p:nvPr/>
        </p:nvSpPr>
        <p:spPr>
          <a:xfrm>
            <a:off x="10305288" y="3273552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>
                <a:solidFill>
                  <a:srgbClr val="17233B"/>
                </a:solidFill>
                <a:latin typeface="Aptos"/>
              </a:rPr>
              <a:t>1.000</a:t>
            </a:r>
            <a:endParaRPr lang="vi-VN"/>
          </a:p>
        </p:txBody>
      </p:sp>
      <p:sp>
        <p:nvSpPr>
          <p:cNvPr id="55" name="Shape 55"/>
          <p:cNvSpPr/>
          <p:nvPr/>
        </p:nvSpPr>
        <p:spPr>
          <a:xfrm>
            <a:off x="557784" y="3675888"/>
            <a:ext cx="11000232" cy="393192"/>
          </a:xfrm>
          <a:prstGeom prst="rect">
            <a:avLst/>
          </a:prstGeom>
          <a:solidFill>
            <a:srgbClr val="F3F7FC"/>
          </a:solidFill>
          <a:ln>
            <a:noFill/>
          </a:ln>
        </p:spPr>
      </p:sp>
      <p:sp>
        <p:nvSpPr>
          <p:cNvPr id="56" name="Text 56"/>
          <p:cNvSpPr txBox="1"/>
          <p:nvPr/>
        </p:nvSpPr>
        <p:spPr>
          <a:xfrm>
            <a:off x="685800" y="3721608"/>
            <a:ext cx="73152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E5</a:t>
            </a:r>
            <a:endParaRPr lang="vi-VN"/>
          </a:p>
        </p:txBody>
      </p:sp>
      <p:sp>
        <p:nvSpPr>
          <p:cNvPr id="57" name="Shape 57"/>
          <p:cNvSpPr/>
          <p:nvPr/>
        </p:nvSpPr>
        <p:spPr>
          <a:xfrm>
            <a:off x="2002536" y="3813048"/>
            <a:ext cx="1645920" cy="100584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58" name="Shape 58"/>
          <p:cNvSpPr/>
          <p:nvPr/>
        </p:nvSpPr>
        <p:spPr>
          <a:xfrm>
            <a:off x="2002536" y="3813048"/>
            <a:ext cx="1051743" cy="1005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59" name="Text 59"/>
          <p:cNvSpPr txBox="1"/>
          <p:nvPr/>
        </p:nvSpPr>
        <p:spPr>
          <a:xfrm>
            <a:off x="3758184" y="3721608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>
                <a:solidFill>
                  <a:srgbClr val="17233B"/>
                </a:solidFill>
                <a:latin typeface="Aptos"/>
              </a:rPr>
              <a:t>0.639</a:t>
            </a:r>
            <a:endParaRPr lang="vi-VN"/>
          </a:p>
        </p:txBody>
      </p:sp>
      <p:sp>
        <p:nvSpPr>
          <p:cNvPr id="60" name="Shape 60"/>
          <p:cNvSpPr/>
          <p:nvPr/>
        </p:nvSpPr>
        <p:spPr>
          <a:xfrm>
            <a:off x="5285232" y="3813048"/>
            <a:ext cx="1645920" cy="100584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61" name="Shape 61"/>
          <p:cNvSpPr/>
          <p:nvPr/>
        </p:nvSpPr>
        <p:spPr>
          <a:xfrm>
            <a:off x="5285232" y="3813048"/>
            <a:ext cx="783458" cy="100584"/>
          </a:xfrm>
          <a:prstGeom prst="roundRect">
            <a:avLst/>
          </a:prstGeom>
          <a:solidFill>
            <a:srgbClr val="0F9E90"/>
          </a:solidFill>
          <a:ln>
            <a:noFill/>
          </a:ln>
        </p:spPr>
      </p:sp>
      <p:sp>
        <p:nvSpPr>
          <p:cNvPr id="62" name="Text 62"/>
          <p:cNvSpPr txBox="1"/>
          <p:nvPr/>
        </p:nvSpPr>
        <p:spPr>
          <a:xfrm>
            <a:off x="7040880" y="3721608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>
                <a:solidFill>
                  <a:srgbClr val="17233B"/>
                </a:solidFill>
                <a:latin typeface="Aptos"/>
              </a:rPr>
              <a:t>0.476</a:t>
            </a:r>
            <a:endParaRPr lang="vi-VN"/>
          </a:p>
        </p:txBody>
      </p:sp>
      <p:sp>
        <p:nvSpPr>
          <p:cNvPr id="63" name="Shape 63"/>
          <p:cNvSpPr/>
          <p:nvPr/>
        </p:nvSpPr>
        <p:spPr>
          <a:xfrm>
            <a:off x="8695944" y="3813048"/>
            <a:ext cx="1499616" cy="100584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64" name="Shape 64"/>
          <p:cNvSpPr/>
          <p:nvPr/>
        </p:nvSpPr>
        <p:spPr>
          <a:xfrm>
            <a:off x="8695944" y="3813048"/>
            <a:ext cx="1178698" cy="100584"/>
          </a:xfrm>
          <a:prstGeom prst="roundRect">
            <a:avLst/>
          </a:prstGeom>
          <a:solidFill>
            <a:srgbClr val="D88A17"/>
          </a:solidFill>
          <a:ln>
            <a:noFill/>
          </a:ln>
        </p:spPr>
      </p:sp>
      <p:sp>
        <p:nvSpPr>
          <p:cNvPr id="65" name="Text 65"/>
          <p:cNvSpPr txBox="1"/>
          <p:nvPr/>
        </p:nvSpPr>
        <p:spPr>
          <a:xfrm>
            <a:off x="10305288" y="3721608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>
                <a:solidFill>
                  <a:srgbClr val="17233B"/>
                </a:solidFill>
                <a:latin typeface="Aptos"/>
              </a:rPr>
              <a:t>0.786</a:t>
            </a:r>
            <a:endParaRPr lang="vi-VN"/>
          </a:p>
        </p:txBody>
      </p:sp>
      <p:sp>
        <p:nvSpPr>
          <p:cNvPr id="66" name="Text 66"/>
          <p:cNvSpPr txBox="1"/>
          <p:nvPr/>
        </p:nvSpPr>
        <p:spPr>
          <a:xfrm>
            <a:off x="685800" y="4169664"/>
            <a:ext cx="73152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E6</a:t>
            </a:r>
            <a:endParaRPr lang="vi-VN"/>
          </a:p>
        </p:txBody>
      </p:sp>
      <p:sp>
        <p:nvSpPr>
          <p:cNvPr id="67" name="Shape 67"/>
          <p:cNvSpPr/>
          <p:nvPr/>
        </p:nvSpPr>
        <p:spPr>
          <a:xfrm>
            <a:off x="2002536" y="4261104"/>
            <a:ext cx="1645920" cy="100584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68" name="Shape 68"/>
          <p:cNvSpPr/>
          <p:nvPr/>
        </p:nvSpPr>
        <p:spPr>
          <a:xfrm>
            <a:off x="2002536" y="4261104"/>
            <a:ext cx="936528" cy="1005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69" name="Text 69"/>
          <p:cNvSpPr txBox="1"/>
          <p:nvPr/>
        </p:nvSpPr>
        <p:spPr>
          <a:xfrm>
            <a:off x="3758184" y="4169664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>
                <a:solidFill>
                  <a:srgbClr val="17233B"/>
                </a:solidFill>
                <a:latin typeface="Aptos"/>
              </a:rPr>
              <a:t>0.569</a:t>
            </a:r>
            <a:endParaRPr lang="vi-VN"/>
          </a:p>
        </p:txBody>
      </p:sp>
      <p:sp>
        <p:nvSpPr>
          <p:cNvPr id="70" name="Shape 70"/>
          <p:cNvSpPr/>
          <p:nvPr/>
        </p:nvSpPr>
        <p:spPr>
          <a:xfrm>
            <a:off x="5285232" y="4261104"/>
            <a:ext cx="1645920" cy="100584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71" name="Shape 71"/>
          <p:cNvSpPr/>
          <p:nvPr/>
        </p:nvSpPr>
        <p:spPr>
          <a:xfrm>
            <a:off x="5285232" y="4261104"/>
            <a:ext cx="454274" cy="100584"/>
          </a:xfrm>
          <a:prstGeom prst="roundRect">
            <a:avLst/>
          </a:prstGeom>
          <a:solidFill>
            <a:srgbClr val="0F9E90"/>
          </a:solidFill>
          <a:ln>
            <a:noFill/>
          </a:ln>
        </p:spPr>
      </p:sp>
      <p:sp>
        <p:nvSpPr>
          <p:cNvPr id="72" name="Text 72"/>
          <p:cNvSpPr txBox="1"/>
          <p:nvPr/>
        </p:nvSpPr>
        <p:spPr>
          <a:xfrm>
            <a:off x="7040880" y="4169664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>
                <a:solidFill>
                  <a:srgbClr val="17233B"/>
                </a:solidFill>
                <a:latin typeface="Aptos"/>
              </a:rPr>
              <a:t>0.276</a:t>
            </a:r>
            <a:endParaRPr lang="vi-VN"/>
          </a:p>
        </p:txBody>
      </p:sp>
      <p:sp>
        <p:nvSpPr>
          <p:cNvPr id="73" name="Shape 73"/>
          <p:cNvSpPr/>
          <p:nvPr/>
        </p:nvSpPr>
        <p:spPr>
          <a:xfrm>
            <a:off x="8695944" y="4261104"/>
            <a:ext cx="1499616" cy="100584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74" name="Shape 74"/>
          <p:cNvSpPr/>
          <p:nvPr/>
        </p:nvSpPr>
        <p:spPr>
          <a:xfrm>
            <a:off x="8695944" y="4261104"/>
            <a:ext cx="1070726" cy="100584"/>
          </a:xfrm>
          <a:prstGeom prst="roundRect">
            <a:avLst/>
          </a:prstGeom>
          <a:solidFill>
            <a:srgbClr val="D88A17"/>
          </a:solidFill>
          <a:ln>
            <a:noFill/>
          </a:ln>
        </p:spPr>
      </p:sp>
      <p:sp>
        <p:nvSpPr>
          <p:cNvPr id="75" name="Text 75"/>
          <p:cNvSpPr txBox="1"/>
          <p:nvPr/>
        </p:nvSpPr>
        <p:spPr>
          <a:xfrm>
            <a:off x="10305288" y="4169664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>
                <a:solidFill>
                  <a:srgbClr val="17233B"/>
                </a:solidFill>
                <a:latin typeface="Aptos"/>
              </a:rPr>
              <a:t>0.714</a:t>
            </a:r>
            <a:endParaRPr lang="vi-VN"/>
          </a:p>
        </p:txBody>
      </p:sp>
      <p:sp>
        <p:nvSpPr>
          <p:cNvPr id="76" name="Shape 76"/>
          <p:cNvSpPr/>
          <p:nvPr/>
        </p:nvSpPr>
        <p:spPr>
          <a:xfrm>
            <a:off x="557784" y="4572000"/>
            <a:ext cx="11000232" cy="393192"/>
          </a:xfrm>
          <a:prstGeom prst="rect">
            <a:avLst/>
          </a:prstGeom>
          <a:solidFill>
            <a:srgbClr val="F3F7FC"/>
          </a:solidFill>
          <a:ln>
            <a:noFill/>
          </a:ln>
        </p:spPr>
      </p:sp>
      <p:sp>
        <p:nvSpPr>
          <p:cNvPr id="77" name="Text 77"/>
          <p:cNvSpPr txBox="1"/>
          <p:nvPr/>
        </p:nvSpPr>
        <p:spPr>
          <a:xfrm>
            <a:off x="685800" y="4617720"/>
            <a:ext cx="73152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E7</a:t>
            </a:r>
            <a:endParaRPr lang="vi-VN"/>
          </a:p>
        </p:txBody>
      </p:sp>
      <p:sp>
        <p:nvSpPr>
          <p:cNvPr id="78" name="Shape 78"/>
          <p:cNvSpPr/>
          <p:nvPr/>
        </p:nvSpPr>
        <p:spPr>
          <a:xfrm>
            <a:off x="2002536" y="4709160"/>
            <a:ext cx="1645920" cy="100584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79" name="Shape 79"/>
          <p:cNvSpPr/>
          <p:nvPr/>
        </p:nvSpPr>
        <p:spPr>
          <a:xfrm>
            <a:off x="2002536" y="4709160"/>
            <a:ext cx="1051743" cy="1005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80" name="Text 80"/>
          <p:cNvSpPr txBox="1"/>
          <p:nvPr/>
        </p:nvSpPr>
        <p:spPr>
          <a:xfrm>
            <a:off x="3758184" y="461772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>
                <a:solidFill>
                  <a:srgbClr val="17233B"/>
                </a:solidFill>
                <a:latin typeface="Aptos"/>
              </a:rPr>
              <a:t>0.639</a:t>
            </a:r>
            <a:endParaRPr lang="vi-VN"/>
          </a:p>
        </p:txBody>
      </p:sp>
      <p:sp>
        <p:nvSpPr>
          <p:cNvPr id="81" name="Shape 81"/>
          <p:cNvSpPr/>
          <p:nvPr/>
        </p:nvSpPr>
        <p:spPr>
          <a:xfrm>
            <a:off x="5285232" y="4709160"/>
            <a:ext cx="1645920" cy="100584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82" name="Shape 82"/>
          <p:cNvSpPr/>
          <p:nvPr/>
        </p:nvSpPr>
        <p:spPr>
          <a:xfrm>
            <a:off x="5285232" y="4709160"/>
            <a:ext cx="783458" cy="100584"/>
          </a:xfrm>
          <a:prstGeom prst="roundRect">
            <a:avLst/>
          </a:prstGeom>
          <a:solidFill>
            <a:srgbClr val="0F9E90"/>
          </a:solidFill>
          <a:ln>
            <a:noFill/>
          </a:ln>
        </p:spPr>
      </p:sp>
      <p:sp>
        <p:nvSpPr>
          <p:cNvPr id="83" name="Text 83"/>
          <p:cNvSpPr txBox="1"/>
          <p:nvPr/>
        </p:nvSpPr>
        <p:spPr>
          <a:xfrm>
            <a:off x="7040880" y="461772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>
                <a:solidFill>
                  <a:srgbClr val="17233B"/>
                </a:solidFill>
                <a:latin typeface="Aptos"/>
              </a:rPr>
              <a:t>0.476</a:t>
            </a:r>
            <a:endParaRPr lang="vi-VN"/>
          </a:p>
        </p:txBody>
      </p:sp>
      <p:sp>
        <p:nvSpPr>
          <p:cNvPr id="84" name="Shape 84"/>
          <p:cNvSpPr/>
          <p:nvPr/>
        </p:nvSpPr>
        <p:spPr>
          <a:xfrm>
            <a:off x="8695944" y="4709160"/>
            <a:ext cx="1499616" cy="100584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85" name="Shape 85"/>
          <p:cNvSpPr/>
          <p:nvPr/>
        </p:nvSpPr>
        <p:spPr>
          <a:xfrm>
            <a:off x="8695944" y="4709160"/>
            <a:ext cx="1070726" cy="100584"/>
          </a:xfrm>
          <a:prstGeom prst="roundRect">
            <a:avLst/>
          </a:prstGeom>
          <a:solidFill>
            <a:srgbClr val="D88A17"/>
          </a:solidFill>
          <a:ln>
            <a:noFill/>
          </a:ln>
        </p:spPr>
      </p:sp>
      <p:sp>
        <p:nvSpPr>
          <p:cNvPr id="86" name="Text 86"/>
          <p:cNvSpPr txBox="1"/>
          <p:nvPr/>
        </p:nvSpPr>
        <p:spPr>
          <a:xfrm>
            <a:off x="10305288" y="461772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>
                <a:solidFill>
                  <a:srgbClr val="17233B"/>
                </a:solidFill>
                <a:latin typeface="Aptos"/>
              </a:rPr>
              <a:t>0.714</a:t>
            </a:r>
            <a:endParaRPr lang="vi-VN"/>
          </a:p>
        </p:txBody>
      </p:sp>
      <p:sp>
        <p:nvSpPr>
          <p:cNvPr id="87" name="Text 87"/>
          <p:cNvSpPr txBox="1"/>
          <p:nvPr/>
        </p:nvSpPr>
        <p:spPr>
          <a:xfrm>
            <a:off x="685800" y="5065776"/>
            <a:ext cx="73152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 b="1">
                <a:solidFill>
                  <a:srgbClr val="2563EB"/>
                </a:solidFill>
                <a:latin typeface="Aptos"/>
              </a:rPr>
              <a:t>E8</a:t>
            </a:r>
            <a:endParaRPr lang="vi-VN"/>
          </a:p>
        </p:txBody>
      </p:sp>
      <p:sp>
        <p:nvSpPr>
          <p:cNvPr id="88" name="Shape 88"/>
          <p:cNvSpPr/>
          <p:nvPr/>
        </p:nvSpPr>
        <p:spPr>
          <a:xfrm>
            <a:off x="2002536" y="5157216"/>
            <a:ext cx="1645920" cy="100584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89" name="Shape 89"/>
          <p:cNvSpPr/>
          <p:nvPr/>
        </p:nvSpPr>
        <p:spPr>
          <a:xfrm>
            <a:off x="2002536" y="5157216"/>
            <a:ext cx="1142268" cy="1005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0" name="Text 90"/>
          <p:cNvSpPr txBox="1"/>
          <p:nvPr/>
        </p:nvSpPr>
        <p:spPr>
          <a:xfrm>
            <a:off x="3758184" y="5065776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>
                <a:solidFill>
                  <a:srgbClr val="17233B"/>
                </a:solidFill>
                <a:latin typeface="Aptos"/>
              </a:rPr>
              <a:t>0.694</a:t>
            </a:r>
            <a:endParaRPr lang="vi-VN"/>
          </a:p>
        </p:txBody>
      </p:sp>
      <p:sp>
        <p:nvSpPr>
          <p:cNvPr id="91" name="Shape 91"/>
          <p:cNvSpPr/>
          <p:nvPr/>
        </p:nvSpPr>
        <p:spPr>
          <a:xfrm>
            <a:off x="5285232" y="5157216"/>
            <a:ext cx="1645920" cy="100584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92" name="Shape 92"/>
          <p:cNvSpPr/>
          <p:nvPr/>
        </p:nvSpPr>
        <p:spPr>
          <a:xfrm>
            <a:off x="5285232" y="5157216"/>
            <a:ext cx="992490" cy="100584"/>
          </a:xfrm>
          <a:prstGeom prst="roundRect">
            <a:avLst/>
          </a:prstGeom>
          <a:solidFill>
            <a:srgbClr val="0F9E90"/>
          </a:solidFill>
          <a:ln>
            <a:noFill/>
          </a:ln>
        </p:spPr>
      </p:sp>
      <p:sp>
        <p:nvSpPr>
          <p:cNvPr id="93" name="Text 93"/>
          <p:cNvSpPr txBox="1"/>
          <p:nvPr/>
        </p:nvSpPr>
        <p:spPr>
          <a:xfrm>
            <a:off x="7040880" y="5065776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>
                <a:solidFill>
                  <a:srgbClr val="17233B"/>
                </a:solidFill>
                <a:latin typeface="Aptos"/>
              </a:rPr>
              <a:t>0.603</a:t>
            </a:r>
            <a:endParaRPr lang="vi-VN"/>
          </a:p>
        </p:txBody>
      </p:sp>
      <p:sp>
        <p:nvSpPr>
          <p:cNvPr id="94" name="Shape 94"/>
          <p:cNvSpPr/>
          <p:nvPr/>
        </p:nvSpPr>
        <p:spPr>
          <a:xfrm>
            <a:off x="8695944" y="5157216"/>
            <a:ext cx="1499616" cy="100584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95" name="Shape 95"/>
          <p:cNvSpPr/>
          <p:nvPr/>
        </p:nvSpPr>
        <p:spPr>
          <a:xfrm>
            <a:off x="8695944" y="5157216"/>
            <a:ext cx="1393143" cy="100584"/>
          </a:xfrm>
          <a:prstGeom prst="roundRect">
            <a:avLst/>
          </a:prstGeom>
          <a:solidFill>
            <a:srgbClr val="D88A17"/>
          </a:solidFill>
          <a:ln>
            <a:noFill/>
          </a:ln>
        </p:spPr>
      </p:sp>
      <p:sp>
        <p:nvSpPr>
          <p:cNvPr id="96" name="Text 96"/>
          <p:cNvSpPr txBox="1"/>
          <p:nvPr/>
        </p:nvSpPr>
        <p:spPr>
          <a:xfrm>
            <a:off x="10305288" y="5065776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>
                <a:solidFill>
                  <a:srgbClr val="17233B"/>
                </a:solidFill>
                <a:latin typeface="Aptos"/>
              </a:rPr>
              <a:t>0.929</a:t>
            </a:r>
            <a:endParaRPr lang="vi-VN"/>
          </a:p>
        </p:txBody>
      </p:sp>
      <p:sp>
        <p:nvSpPr>
          <p:cNvPr id="97" name="Text 97"/>
          <p:cNvSpPr txBox="1"/>
          <p:nvPr/>
        </p:nvSpPr>
        <p:spPr>
          <a:xfrm>
            <a:off x="630936" y="5650992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500" b="1">
                <a:solidFill>
                  <a:srgbClr val="17233B"/>
                </a:solidFill>
                <a:latin typeface="Aptos"/>
              </a:rPr>
              <a:t>E8: context recall 0,694 · precision 0,603 · faithfulness 0,929.</a:t>
            </a:r>
            <a:endParaRPr lang="vi-VN"/>
          </a:p>
          <a:p>
            <a:pPr algn="l"/>
            <a:r>
              <a:rPr lang="vi-VN" sz="1500" b="1">
                <a:solidFill>
                  <a:srgbClr val="17233B"/>
                </a:solidFill>
                <a:latin typeface="Aptos"/>
              </a:rPr>
              <a:t>Answer correctness 0,250 · negative rejection 1,0.</a:t>
            </a:r>
            <a:endParaRPr lang="vi-V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438912" y="21945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000" b="1">
                <a:solidFill>
                  <a:srgbClr val="0F9E90"/>
                </a:solidFill>
                <a:latin typeface="Aptos"/>
              </a:rPr>
              <a:t>ABLATION</a:t>
            </a:r>
            <a:endParaRPr lang="vi-VN"/>
          </a:p>
        </p:txBody>
      </p:sp>
      <p:sp>
        <p:nvSpPr>
          <p:cNvPr id="5" name="Text 5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2800" b="1">
                <a:solidFill>
                  <a:srgbClr val="17233B"/>
                </a:solidFill>
                <a:latin typeface="Aptos"/>
              </a:rPr>
              <a:t>Đánh đổi chất lượng ↔ độ trễ</a:t>
            </a:r>
            <a:endParaRPr lang="vi-VN"/>
          </a:p>
        </p:txBody>
      </p:sp>
      <p:sp>
        <p:nvSpPr>
          <p:cNvPr id="6" name="Shape 6"/>
          <p:cNvSpPr/>
          <p:nvPr/>
        </p:nvSpPr>
        <p:spPr>
          <a:xfrm>
            <a:off x="438912" y="1161288"/>
            <a:ext cx="11292840" cy="13716"/>
          </a:xfrm>
          <a:prstGeom prst="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448056" y="6574536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800">
                <a:solidFill>
                  <a:srgbClr val="596579"/>
                </a:solidFill>
                <a:latin typeface="Aptos"/>
              </a:rPr>
              <a:t>VIDEO RAG  /  AIC 2025</a:t>
            </a:r>
            <a:endParaRPr lang="vi-VN"/>
          </a:p>
        </p:txBody>
      </p:sp>
      <p:sp>
        <p:nvSpPr>
          <p:cNvPr id="8" name="Text 8"/>
          <p:cNvSpPr txBox="1"/>
          <p:nvPr/>
        </p:nvSpPr>
        <p:spPr>
          <a:xfrm>
            <a:off x="11119104" y="652881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000">
                <a:solidFill>
                  <a:srgbClr val="596579"/>
                </a:solidFill>
                <a:latin typeface="Aptos"/>
              </a:rPr>
              <a:t>19</a:t>
            </a:r>
            <a:endParaRPr lang="vi-VN"/>
          </a:p>
        </p:txBody>
      </p:sp>
      <p:sp>
        <p:nvSpPr>
          <p:cNvPr id="9" name="Text 9"/>
          <p:cNvSpPr txBox="1"/>
          <p:nvPr/>
        </p:nvSpPr>
        <p:spPr>
          <a:xfrm>
            <a:off x="612648" y="14630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900" b="1">
                <a:solidFill>
                  <a:srgbClr val="17233B"/>
                </a:solidFill>
                <a:latin typeface="Aptos"/>
              </a:rPr>
              <a:t>Latency p50 (giây)</a:t>
            </a:r>
            <a:endParaRPr lang="vi-VN"/>
          </a:p>
        </p:txBody>
      </p:sp>
      <p:sp>
        <p:nvSpPr>
          <p:cNvPr id="10" name="Text 10"/>
          <p:cNvSpPr txBox="1"/>
          <p:nvPr/>
        </p:nvSpPr>
        <p:spPr>
          <a:xfrm>
            <a:off x="640080" y="1993392"/>
            <a:ext cx="120700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 b="1">
                <a:solidFill>
                  <a:srgbClr val="17233B"/>
                </a:solidFill>
                <a:latin typeface="Aptos"/>
              </a:rPr>
              <a:t>E2 +RRF</a:t>
            </a:r>
            <a:endParaRPr lang="vi-VN"/>
          </a:p>
        </p:txBody>
      </p:sp>
      <p:sp>
        <p:nvSpPr>
          <p:cNvPr id="11" name="Shape 11"/>
          <p:cNvSpPr/>
          <p:nvPr/>
        </p:nvSpPr>
        <p:spPr>
          <a:xfrm>
            <a:off x="1965960" y="2048256"/>
            <a:ext cx="4700016" cy="164592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12" name="Shape 12"/>
          <p:cNvSpPr/>
          <p:nvPr/>
        </p:nvSpPr>
        <p:spPr>
          <a:xfrm>
            <a:off x="1965960" y="2048256"/>
            <a:ext cx="767669" cy="1645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6775704" y="198424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300" b="1">
                <a:solidFill>
                  <a:srgbClr val="2563EB"/>
                </a:solidFill>
                <a:latin typeface="Aptos"/>
              </a:rPr>
              <a:t>9.8s</a:t>
            </a:r>
            <a:endParaRPr lang="vi-VN"/>
          </a:p>
        </p:txBody>
      </p:sp>
      <p:sp>
        <p:nvSpPr>
          <p:cNvPr id="14" name="Text 14"/>
          <p:cNvSpPr txBox="1"/>
          <p:nvPr/>
        </p:nvSpPr>
        <p:spPr>
          <a:xfrm>
            <a:off x="640080" y="2706624"/>
            <a:ext cx="120700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 b="1">
                <a:solidFill>
                  <a:srgbClr val="17233B"/>
                </a:solidFill>
                <a:latin typeface="Aptos"/>
              </a:rPr>
              <a:t>E5 +Crops</a:t>
            </a:r>
            <a:endParaRPr lang="vi-VN"/>
          </a:p>
        </p:txBody>
      </p:sp>
      <p:sp>
        <p:nvSpPr>
          <p:cNvPr id="15" name="Shape 15"/>
          <p:cNvSpPr/>
          <p:nvPr/>
        </p:nvSpPr>
        <p:spPr>
          <a:xfrm>
            <a:off x="1965960" y="2761488"/>
            <a:ext cx="4700016" cy="164592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16" name="Shape 16"/>
          <p:cNvSpPr/>
          <p:nvPr/>
        </p:nvSpPr>
        <p:spPr>
          <a:xfrm>
            <a:off x="1965960" y="2761488"/>
            <a:ext cx="3344845" cy="164592"/>
          </a:xfrm>
          <a:prstGeom prst="roundRect">
            <a:avLst/>
          </a:prstGeom>
          <a:solidFill>
            <a:srgbClr val="0F9E90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6775704" y="2697480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300" b="1">
                <a:solidFill>
                  <a:srgbClr val="0F9E90"/>
                </a:solidFill>
                <a:latin typeface="Aptos"/>
              </a:rPr>
              <a:t>42.7s</a:t>
            </a:r>
            <a:endParaRPr lang="vi-VN"/>
          </a:p>
        </p:txBody>
      </p:sp>
      <p:sp>
        <p:nvSpPr>
          <p:cNvPr id="18" name="Text 18"/>
          <p:cNvSpPr txBox="1"/>
          <p:nvPr/>
        </p:nvSpPr>
        <p:spPr>
          <a:xfrm>
            <a:off x="640080" y="3419856"/>
            <a:ext cx="120700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 b="1">
                <a:solidFill>
                  <a:srgbClr val="17233B"/>
                </a:solidFill>
                <a:latin typeface="Aptos"/>
              </a:rPr>
              <a:t>E7 +Summary</a:t>
            </a:r>
            <a:endParaRPr lang="vi-VN"/>
          </a:p>
        </p:txBody>
      </p:sp>
      <p:sp>
        <p:nvSpPr>
          <p:cNvPr id="19" name="Shape 19"/>
          <p:cNvSpPr/>
          <p:nvPr/>
        </p:nvSpPr>
        <p:spPr>
          <a:xfrm>
            <a:off x="1965960" y="3474720"/>
            <a:ext cx="4700016" cy="164592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20" name="Shape 20"/>
          <p:cNvSpPr/>
          <p:nvPr/>
        </p:nvSpPr>
        <p:spPr>
          <a:xfrm>
            <a:off x="1965960" y="3474720"/>
            <a:ext cx="4143847" cy="164592"/>
          </a:xfrm>
          <a:prstGeom prst="roundRect">
            <a:avLst/>
          </a:prstGeom>
          <a:solidFill>
            <a:srgbClr val="D88A17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6775704" y="3410712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300" b="1">
                <a:solidFill>
                  <a:srgbClr val="D88A17"/>
                </a:solidFill>
                <a:latin typeface="Aptos"/>
              </a:rPr>
              <a:t>52.9s</a:t>
            </a:r>
            <a:endParaRPr lang="vi-VN"/>
          </a:p>
        </p:txBody>
      </p:sp>
      <p:sp>
        <p:nvSpPr>
          <p:cNvPr id="22" name="Text 22"/>
          <p:cNvSpPr txBox="1"/>
          <p:nvPr/>
        </p:nvSpPr>
        <p:spPr>
          <a:xfrm>
            <a:off x="640080" y="4133088"/>
            <a:ext cx="120700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 b="1">
                <a:solidFill>
                  <a:srgbClr val="17233B"/>
                </a:solidFill>
                <a:latin typeface="Aptos"/>
              </a:rPr>
              <a:t>E8 Agent</a:t>
            </a:r>
            <a:endParaRPr lang="vi-VN"/>
          </a:p>
        </p:txBody>
      </p:sp>
      <p:sp>
        <p:nvSpPr>
          <p:cNvPr id="23" name="Shape 23"/>
          <p:cNvSpPr/>
          <p:nvPr/>
        </p:nvSpPr>
        <p:spPr>
          <a:xfrm>
            <a:off x="1965960" y="4187952"/>
            <a:ext cx="4700016" cy="164592"/>
          </a:xfrm>
          <a:prstGeom prst="round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24" name="Shape 24"/>
          <p:cNvSpPr/>
          <p:nvPr/>
        </p:nvSpPr>
        <p:spPr>
          <a:xfrm>
            <a:off x="1965960" y="4187952"/>
            <a:ext cx="4269181" cy="164592"/>
          </a:xfrm>
          <a:prstGeom prst="roundRect">
            <a:avLst/>
          </a:prstGeom>
          <a:solidFill>
            <a:srgbClr val="C24152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6775704" y="4123944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300" b="1">
                <a:solidFill>
                  <a:srgbClr val="C24152"/>
                </a:solidFill>
                <a:latin typeface="Aptos"/>
              </a:rPr>
              <a:t>54.5s</a:t>
            </a:r>
            <a:endParaRPr lang="vi-VN"/>
          </a:p>
        </p:txBody>
      </p:sp>
      <p:sp>
        <p:nvSpPr>
          <p:cNvPr id="26" name="Shape 26"/>
          <p:cNvSpPr/>
          <p:nvPr/>
        </p:nvSpPr>
        <p:spPr>
          <a:xfrm>
            <a:off x="7662672" y="1728216"/>
            <a:ext cx="3776472" cy="2971800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27" name="Shape 27"/>
          <p:cNvSpPr/>
          <p:nvPr/>
        </p:nvSpPr>
        <p:spPr>
          <a:xfrm>
            <a:off x="7662672" y="1728216"/>
            <a:ext cx="50292" cy="2971800"/>
          </a:xfrm>
          <a:prstGeom prst="rect">
            <a:avLst/>
          </a:prstGeom>
          <a:solidFill>
            <a:srgbClr val="0F9E90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7863840" y="1892808"/>
            <a:ext cx="339242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0F9E90"/>
                </a:solidFill>
                <a:latin typeface="Aptos"/>
              </a:rPr>
              <a:t>Đọc kết quả cùng nhau</a:t>
            </a:r>
            <a:endParaRPr lang="vi-VN"/>
          </a:p>
        </p:txBody>
      </p:sp>
      <p:sp>
        <p:nvSpPr>
          <p:cNvPr id="29" name="Text 29"/>
          <p:cNvSpPr txBox="1"/>
          <p:nvPr/>
        </p:nvSpPr>
        <p:spPr>
          <a:xfrm>
            <a:off x="7863840" y="2350008"/>
            <a:ext cx="3364992" cy="22585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600">
                <a:solidFill>
                  <a:srgbClr val="17233B"/>
                </a:solidFill>
                <a:latin typeface="Aptos"/>
              </a:rPr>
              <a:t>E5: Answer Relevance 0,796 nhưng chậm 42,7s.</a:t>
            </a:r>
            <a:endParaRPr lang="vi-VN"/>
          </a:p>
          <a:p>
            <a:pPr algn="l"/>
            <a:r>
              <a:rPr lang="vi-VN" sz="1600">
                <a:solidFill>
                  <a:srgbClr val="17233B"/>
                </a:solidFill>
                <a:latin typeface="Aptos"/>
              </a:rPr>
              <a:t>E8: evidence tốt nhất, latency 54,5s.</a:t>
            </a:r>
            <a:endParaRPr lang="vi-VN"/>
          </a:p>
        </p:txBody>
      </p:sp>
      <p:sp>
        <p:nvSpPr>
          <p:cNvPr id="30" name="Text 30"/>
          <p:cNvSpPr txBox="1"/>
          <p:nvPr/>
        </p:nvSpPr>
        <p:spPr>
          <a:xfrm>
            <a:off x="630936" y="5404104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800">
                <a:solidFill>
                  <a:srgbClr val="17233B"/>
                </a:solidFill>
                <a:latin typeface="Aptos"/>
              </a:rPr>
              <a:t>Answer correctness chỉ 0,167–0,250; pilot 14 test QA và phép so khớp tiếng Việt nghiêm ngặt.</a:t>
            </a:r>
            <a:endParaRPr lang="vi-V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438912" y="21945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000" b="1">
                <a:solidFill>
                  <a:srgbClr val="0F9E90"/>
                </a:solidFill>
                <a:latin typeface="Aptos"/>
              </a:rPr>
              <a:t>ERROR ANALYSIS</a:t>
            </a:r>
            <a:endParaRPr lang="vi-VN"/>
          </a:p>
        </p:txBody>
      </p:sp>
      <p:sp>
        <p:nvSpPr>
          <p:cNvPr id="5" name="Text 5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2800" b="1">
                <a:solidFill>
                  <a:srgbClr val="17233B"/>
                </a:solidFill>
                <a:latin typeface="Aptos"/>
              </a:rPr>
              <a:t>Lỗi xảy ra ở nhiều tầng</a:t>
            </a:r>
            <a:endParaRPr lang="vi-VN"/>
          </a:p>
        </p:txBody>
      </p:sp>
      <p:sp>
        <p:nvSpPr>
          <p:cNvPr id="6" name="Shape 6"/>
          <p:cNvSpPr/>
          <p:nvPr/>
        </p:nvSpPr>
        <p:spPr>
          <a:xfrm>
            <a:off x="438912" y="1161288"/>
            <a:ext cx="11292840" cy="13716"/>
          </a:xfrm>
          <a:prstGeom prst="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448056" y="6574536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800">
                <a:solidFill>
                  <a:srgbClr val="596579"/>
                </a:solidFill>
                <a:latin typeface="Aptos"/>
              </a:rPr>
              <a:t>VIDEO RAG  /  AIC 2025</a:t>
            </a:r>
            <a:endParaRPr lang="vi-VN"/>
          </a:p>
        </p:txBody>
      </p:sp>
      <p:sp>
        <p:nvSpPr>
          <p:cNvPr id="8" name="Text 8"/>
          <p:cNvSpPr txBox="1"/>
          <p:nvPr/>
        </p:nvSpPr>
        <p:spPr>
          <a:xfrm>
            <a:off x="11119104" y="652881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000">
                <a:solidFill>
                  <a:srgbClr val="596579"/>
                </a:solidFill>
                <a:latin typeface="Aptos"/>
              </a:rPr>
              <a:t>20</a:t>
            </a:r>
            <a:endParaRPr lang="vi-VN"/>
          </a:p>
        </p:txBody>
      </p:sp>
      <p:sp>
        <p:nvSpPr>
          <p:cNvPr id="9" name="Shape 9"/>
          <p:cNvSpPr/>
          <p:nvPr/>
        </p:nvSpPr>
        <p:spPr>
          <a:xfrm>
            <a:off x="539496" y="1417320"/>
            <a:ext cx="5422392" cy="1042416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0" name="Shape 10"/>
          <p:cNvSpPr/>
          <p:nvPr/>
        </p:nvSpPr>
        <p:spPr>
          <a:xfrm>
            <a:off x="539496" y="1417320"/>
            <a:ext cx="50292" cy="104241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740664" y="1581912"/>
            <a:ext cx="503834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2563EB"/>
                </a:solidFill>
                <a:latin typeface="Aptos"/>
              </a:rPr>
              <a:t>Retrieval</a:t>
            </a:r>
            <a:endParaRPr lang="vi-VN"/>
          </a:p>
        </p:txBody>
      </p:sp>
      <p:sp>
        <p:nvSpPr>
          <p:cNvPr id="12" name="Text 12"/>
          <p:cNvSpPr txBox="1"/>
          <p:nvPr/>
        </p:nvSpPr>
        <p:spPr>
          <a:xfrm>
            <a:off x="740664" y="2039112"/>
            <a:ext cx="501091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200">
                <a:solidFill>
                  <a:srgbClr val="17233B"/>
                </a:solidFill>
                <a:latin typeface="Aptos"/>
              </a:rPr>
              <a:t>Vocabulary mismatch; dense trượt cảnh diễn đạt khác.</a:t>
            </a:r>
            <a:endParaRPr lang="vi-VN"/>
          </a:p>
        </p:txBody>
      </p:sp>
      <p:sp>
        <p:nvSpPr>
          <p:cNvPr id="13" name="Shape 13"/>
          <p:cNvSpPr/>
          <p:nvPr/>
        </p:nvSpPr>
        <p:spPr>
          <a:xfrm>
            <a:off x="6135624" y="1417320"/>
            <a:ext cx="5422392" cy="1042416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4" name="Shape 14"/>
          <p:cNvSpPr/>
          <p:nvPr/>
        </p:nvSpPr>
        <p:spPr>
          <a:xfrm>
            <a:off x="6135624" y="1417320"/>
            <a:ext cx="50292" cy="1042416"/>
          </a:xfrm>
          <a:prstGeom prst="rect">
            <a:avLst/>
          </a:prstGeom>
          <a:solidFill>
            <a:srgbClr val="0F9E90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6336792" y="1581912"/>
            <a:ext cx="503834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0F9E90"/>
                </a:solidFill>
                <a:latin typeface="Aptos"/>
              </a:rPr>
              <a:t>OCR miss</a:t>
            </a:r>
            <a:endParaRPr lang="vi-VN"/>
          </a:p>
        </p:txBody>
      </p:sp>
      <p:sp>
        <p:nvSpPr>
          <p:cNvPr id="16" name="Text 16"/>
          <p:cNvSpPr txBox="1"/>
          <p:nvPr/>
        </p:nvSpPr>
        <p:spPr>
          <a:xfrm>
            <a:off x="6336792" y="2039112"/>
            <a:ext cx="501091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200">
                <a:solidFill>
                  <a:srgbClr val="17233B"/>
                </a:solidFill>
                <a:latin typeface="Aptos"/>
              </a:rPr>
              <a:t>OCR extraction thiếu hoặc sai chữ nên BM25 không match.</a:t>
            </a:r>
            <a:endParaRPr lang="vi-VN"/>
          </a:p>
        </p:txBody>
      </p:sp>
      <p:sp>
        <p:nvSpPr>
          <p:cNvPr id="17" name="Shape 17"/>
          <p:cNvSpPr/>
          <p:nvPr/>
        </p:nvSpPr>
        <p:spPr>
          <a:xfrm>
            <a:off x="539496" y="2578608"/>
            <a:ext cx="5422392" cy="1042416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8" name="Shape 18"/>
          <p:cNvSpPr/>
          <p:nvPr/>
        </p:nvSpPr>
        <p:spPr>
          <a:xfrm>
            <a:off x="539496" y="2578608"/>
            <a:ext cx="50292" cy="1042416"/>
          </a:xfrm>
          <a:prstGeom prst="rect">
            <a:avLst/>
          </a:prstGeom>
          <a:solidFill>
            <a:srgbClr val="D88A17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740664" y="2743200"/>
            <a:ext cx="503834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D88A17"/>
                </a:solidFill>
                <a:latin typeface="Aptos"/>
              </a:rPr>
              <a:t>Selection</a:t>
            </a:r>
            <a:endParaRPr lang="vi-VN"/>
          </a:p>
        </p:txBody>
      </p:sp>
      <p:sp>
        <p:nvSpPr>
          <p:cNvPr id="20" name="Text 20"/>
          <p:cNvSpPr txBox="1"/>
          <p:nvPr/>
        </p:nvSpPr>
        <p:spPr>
          <a:xfrm>
            <a:off x="740664" y="3200400"/>
            <a:ext cx="501091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200">
                <a:solidFill>
                  <a:srgbClr val="17233B"/>
                </a:solidFill>
                <a:latin typeface="Aptos"/>
              </a:rPr>
              <a:t>Top-3 gần điểm chọn sai frame dù đã tìm đúng video.</a:t>
            </a:r>
            <a:endParaRPr lang="vi-VN"/>
          </a:p>
        </p:txBody>
      </p:sp>
      <p:sp>
        <p:nvSpPr>
          <p:cNvPr id="21" name="Shape 21"/>
          <p:cNvSpPr/>
          <p:nvPr/>
        </p:nvSpPr>
        <p:spPr>
          <a:xfrm>
            <a:off x="6135624" y="2578608"/>
            <a:ext cx="5422392" cy="1042416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22" name="Shape 22"/>
          <p:cNvSpPr/>
          <p:nvPr/>
        </p:nvSpPr>
        <p:spPr>
          <a:xfrm>
            <a:off x="6135624" y="2578608"/>
            <a:ext cx="50292" cy="1042416"/>
          </a:xfrm>
          <a:prstGeom prst="rect">
            <a:avLst/>
          </a:prstGeom>
          <a:solidFill>
            <a:srgbClr val="C24152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6336792" y="2743200"/>
            <a:ext cx="503834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C24152"/>
                </a:solidFill>
                <a:latin typeface="Aptos"/>
              </a:rPr>
              <a:t>Translation</a:t>
            </a:r>
            <a:endParaRPr lang="vi-VN"/>
          </a:p>
        </p:txBody>
      </p:sp>
      <p:sp>
        <p:nvSpPr>
          <p:cNvPr id="24" name="Text 24"/>
          <p:cNvSpPr txBox="1"/>
          <p:nvPr/>
        </p:nvSpPr>
        <p:spPr>
          <a:xfrm>
            <a:off x="6336792" y="3200400"/>
            <a:ext cx="501091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200">
                <a:solidFill>
                  <a:srgbClr val="17233B"/>
                </a:solidFill>
                <a:latin typeface="Aptos"/>
              </a:rPr>
              <a:t>VI→EN mất sắc thái hoặc đổi bối cảnh tìm kiếm.</a:t>
            </a:r>
            <a:endParaRPr lang="vi-VN"/>
          </a:p>
        </p:txBody>
      </p:sp>
      <p:sp>
        <p:nvSpPr>
          <p:cNvPr id="25" name="Shape 25"/>
          <p:cNvSpPr/>
          <p:nvPr/>
        </p:nvSpPr>
        <p:spPr>
          <a:xfrm>
            <a:off x="539496" y="3739896"/>
            <a:ext cx="5422392" cy="1042416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26" name="Shape 26"/>
          <p:cNvSpPr/>
          <p:nvPr/>
        </p:nvSpPr>
        <p:spPr>
          <a:xfrm>
            <a:off x="539496" y="3739896"/>
            <a:ext cx="50292" cy="104241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740664" y="3904488"/>
            <a:ext cx="503834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2563EB"/>
                </a:solidFill>
                <a:latin typeface="Aptos"/>
              </a:rPr>
              <a:t>Temporal</a:t>
            </a:r>
            <a:endParaRPr lang="vi-VN"/>
          </a:p>
        </p:txBody>
      </p:sp>
      <p:sp>
        <p:nvSpPr>
          <p:cNvPr id="28" name="Text 28"/>
          <p:cNvSpPr txBox="1"/>
          <p:nvPr/>
        </p:nvSpPr>
        <p:spPr>
          <a:xfrm>
            <a:off x="740664" y="4361688"/>
            <a:ext cx="501091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200">
                <a:solidFill>
                  <a:srgbClr val="17233B"/>
                </a:solidFill>
                <a:latin typeface="Aptos"/>
              </a:rPr>
              <a:t>Cảnh lặp làm greedy chọn sai thứ tự event.</a:t>
            </a:r>
            <a:endParaRPr lang="vi-VN"/>
          </a:p>
        </p:txBody>
      </p:sp>
      <p:sp>
        <p:nvSpPr>
          <p:cNvPr id="29" name="Shape 29"/>
          <p:cNvSpPr/>
          <p:nvPr/>
        </p:nvSpPr>
        <p:spPr>
          <a:xfrm>
            <a:off x="6135624" y="3739896"/>
            <a:ext cx="5422392" cy="1042416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30" name="Shape 30"/>
          <p:cNvSpPr/>
          <p:nvPr/>
        </p:nvSpPr>
        <p:spPr>
          <a:xfrm>
            <a:off x="6135624" y="3739896"/>
            <a:ext cx="50292" cy="1042416"/>
          </a:xfrm>
          <a:prstGeom prst="rect">
            <a:avLst/>
          </a:prstGeom>
          <a:solidFill>
            <a:srgbClr val="0F9E90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6336792" y="3904488"/>
            <a:ext cx="503834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0F9E90"/>
                </a:solidFill>
                <a:latin typeface="Aptos"/>
              </a:rPr>
              <a:t>Generation</a:t>
            </a:r>
            <a:endParaRPr lang="vi-VN"/>
          </a:p>
        </p:txBody>
      </p:sp>
      <p:sp>
        <p:nvSpPr>
          <p:cNvPr id="32" name="Text 32"/>
          <p:cNvSpPr txBox="1"/>
          <p:nvPr/>
        </p:nvSpPr>
        <p:spPr>
          <a:xfrm>
            <a:off x="6336792" y="4361688"/>
            <a:ext cx="501091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200">
                <a:solidFill>
                  <a:srgbClr val="17233B"/>
                </a:solidFill>
                <a:latin typeface="Aptos"/>
              </a:rPr>
              <a:t>VLM suy đoán khi evidence không đủ rõ.</a:t>
            </a:r>
            <a:endParaRPr lang="vi-VN"/>
          </a:p>
        </p:txBody>
      </p:sp>
      <p:sp>
        <p:nvSpPr>
          <p:cNvPr id="33" name="Shape 33"/>
          <p:cNvSpPr/>
          <p:nvPr/>
        </p:nvSpPr>
        <p:spPr>
          <a:xfrm>
            <a:off x="539496" y="4901184"/>
            <a:ext cx="5422392" cy="1042416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34" name="Shape 34"/>
          <p:cNvSpPr/>
          <p:nvPr/>
        </p:nvSpPr>
        <p:spPr>
          <a:xfrm>
            <a:off x="539496" y="4901184"/>
            <a:ext cx="50292" cy="1042416"/>
          </a:xfrm>
          <a:prstGeom prst="rect">
            <a:avLst/>
          </a:prstGeom>
          <a:solidFill>
            <a:srgbClr val="D88A17"/>
          </a:solidFill>
          <a:ln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740664" y="5065776"/>
            <a:ext cx="5038344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D88A17"/>
                </a:solidFill>
                <a:latin typeface="Aptos"/>
              </a:rPr>
              <a:t>Unsupported script</a:t>
            </a:r>
            <a:endParaRPr lang="vi-VN"/>
          </a:p>
        </p:txBody>
      </p:sp>
      <p:sp>
        <p:nvSpPr>
          <p:cNvPr id="36" name="Text 36"/>
          <p:cNvSpPr txBox="1"/>
          <p:nvPr/>
        </p:nvSpPr>
        <p:spPr>
          <a:xfrm>
            <a:off x="740664" y="5522976"/>
            <a:ext cx="501091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200">
                <a:solidFill>
                  <a:srgbClr val="17233B"/>
                </a:solidFill>
                <a:latin typeface="Aptos"/>
              </a:rPr>
              <a:t>VLM không đọc được chữ Hán-Nôm, thư pháp, chữ viết tay.</a:t>
            </a:r>
            <a:endParaRPr lang="vi-V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438912" y="21945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000" b="1">
                <a:solidFill>
                  <a:srgbClr val="0F9E90"/>
                </a:solidFill>
                <a:latin typeface="Aptos"/>
              </a:rPr>
              <a:t>ERROR ANALYSIS</a:t>
            </a:r>
            <a:endParaRPr lang="vi-VN"/>
          </a:p>
        </p:txBody>
      </p:sp>
      <p:sp>
        <p:nvSpPr>
          <p:cNvPr id="5" name="Text 5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2800" b="1">
                <a:solidFill>
                  <a:srgbClr val="17233B"/>
                </a:solidFill>
                <a:latin typeface="Aptos"/>
              </a:rPr>
              <a:t>Hai ca lỗi cho thấy giới hạn thực tế</a:t>
            </a:r>
            <a:endParaRPr lang="vi-VN"/>
          </a:p>
        </p:txBody>
      </p:sp>
      <p:sp>
        <p:nvSpPr>
          <p:cNvPr id="6" name="Shape 6"/>
          <p:cNvSpPr/>
          <p:nvPr/>
        </p:nvSpPr>
        <p:spPr>
          <a:xfrm>
            <a:off x="438912" y="1161288"/>
            <a:ext cx="11292840" cy="13716"/>
          </a:xfrm>
          <a:prstGeom prst="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448056" y="6574536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800">
                <a:solidFill>
                  <a:srgbClr val="596579"/>
                </a:solidFill>
                <a:latin typeface="Aptos"/>
              </a:rPr>
              <a:t>VIDEO RAG  /  AIC 2025</a:t>
            </a:r>
            <a:endParaRPr lang="vi-VN"/>
          </a:p>
        </p:txBody>
      </p:sp>
      <p:sp>
        <p:nvSpPr>
          <p:cNvPr id="8" name="Text 8"/>
          <p:cNvSpPr txBox="1"/>
          <p:nvPr/>
        </p:nvSpPr>
        <p:spPr>
          <a:xfrm>
            <a:off x="11119104" y="652881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000">
                <a:solidFill>
                  <a:srgbClr val="596579"/>
                </a:solidFill>
                <a:latin typeface="Aptos"/>
              </a:rPr>
              <a:t>21</a:t>
            </a:r>
            <a:endParaRPr lang="vi-VN"/>
          </a:p>
        </p:txBody>
      </p:sp>
      <p:sp>
        <p:nvSpPr>
          <p:cNvPr id="9" name="Shape 9"/>
          <p:cNvSpPr/>
          <p:nvPr/>
        </p:nvSpPr>
        <p:spPr>
          <a:xfrm>
            <a:off x="539496" y="1572768"/>
            <a:ext cx="5431536" cy="3511296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0" name="Shape 10"/>
          <p:cNvSpPr/>
          <p:nvPr/>
        </p:nvSpPr>
        <p:spPr>
          <a:xfrm>
            <a:off x="539496" y="1572768"/>
            <a:ext cx="50292" cy="3511296"/>
          </a:xfrm>
          <a:prstGeom prst="rect">
            <a:avLst/>
          </a:prstGeom>
          <a:solidFill>
            <a:srgbClr val="C24152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740664" y="1737360"/>
            <a:ext cx="5047488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C24152"/>
                </a:solidFill>
                <a:latin typeface="Aptos"/>
              </a:rPr>
              <a:t>Ca 1 · thơ tại đình Nguyễn Trung Trực</a:t>
            </a:r>
            <a:endParaRPr lang="vi-VN"/>
          </a:p>
        </p:txBody>
      </p:sp>
      <p:sp>
        <p:nvSpPr>
          <p:cNvPr id="12" name="Text 12"/>
          <p:cNvSpPr txBox="1"/>
          <p:nvPr/>
        </p:nvSpPr>
        <p:spPr>
          <a:xfrm>
            <a:off x="740664" y="2194560"/>
            <a:ext cx="5020056" cy="279806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>
                <a:solidFill>
                  <a:srgbClr val="17233B"/>
                </a:solidFill>
                <a:latin typeface="Aptos"/>
              </a:rPr>
              <a:t>Đúng frame nhưng Florence-2 và VLM không đọc được chữ thư pháp Hán-Nôm. Agent look/crop vẫn không lấy được nội dung.</a:t>
            </a:r>
            <a:endParaRPr lang="vi-VN"/>
          </a:p>
          <a:p>
            <a:pPr algn="l"/>
            <a:r>
              <a:rPr lang="vi-VN" sz="1700">
                <a:solidFill>
                  <a:srgbClr val="17233B"/>
                </a:solidFill>
                <a:latin typeface="Aptos"/>
              </a:rPr>
              <a:t>→ Cần OCR chuyên biệt hoặc từ chối có căn cứ.</a:t>
            </a:r>
            <a:endParaRPr lang="vi-VN"/>
          </a:p>
        </p:txBody>
      </p:sp>
      <p:sp>
        <p:nvSpPr>
          <p:cNvPr id="13" name="Shape 13"/>
          <p:cNvSpPr/>
          <p:nvPr/>
        </p:nvSpPr>
        <p:spPr>
          <a:xfrm>
            <a:off x="6181344" y="1572768"/>
            <a:ext cx="5431536" cy="3511296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4" name="Shape 14"/>
          <p:cNvSpPr/>
          <p:nvPr/>
        </p:nvSpPr>
        <p:spPr>
          <a:xfrm>
            <a:off x="6181344" y="1572768"/>
            <a:ext cx="50292" cy="3511296"/>
          </a:xfrm>
          <a:prstGeom prst="rect">
            <a:avLst/>
          </a:prstGeom>
          <a:solidFill>
            <a:srgbClr val="0F9E90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6382512" y="1737360"/>
            <a:ext cx="5047488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0F9E90"/>
                </a:solidFill>
                <a:latin typeface="Aptos"/>
              </a:rPr>
              <a:t>Ca 2 · công thức có 200g thịt xay</a:t>
            </a:r>
            <a:endParaRPr lang="vi-VN"/>
          </a:p>
        </p:txBody>
      </p:sp>
      <p:sp>
        <p:nvSpPr>
          <p:cNvPr id="16" name="Text 16"/>
          <p:cNvSpPr txBox="1"/>
          <p:nvPr/>
        </p:nvSpPr>
        <p:spPr>
          <a:xfrm>
            <a:off x="6382512" y="2194560"/>
            <a:ext cx="5020056" cy="279806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>
                <a:solidFill>
                  <a:srgbClr val="17233B"/>
                </a:solidFill>
                <a:latin typeface="Aptos"/>
              </a:rPr>
              <a:t>Manual: OCR “200g” match nhiều công thức, chọn nhầm top-3.</a:t>
            </a:r>
            <a:endParaRPr lang="vi-VN"/>
          </a:p>
          <a:p>
            <a:pPr algn="l"/>
            <a:r>
              <a:rPr lang="vi-VN" sz="1700">
                <a:solidFill>
                  <a:srgbClr val="17233B"/>
                </a:solidFill>
                <a:latin typeface="Aptos"/>
              </a:rPr>
              <a:t>Agent: search → look L30_V078/031 → đọc “Nhân bánh cuốn”.</a:t>
            </a:r>
            <a:endParaRPr lang="vi-VN"/>
          </a:p>
          <a:p>
            <a:pPr algn="l"/>
            <a:r>
              <a:rPr lang="vi-VN" sz="1700">
                <a:solidFill>
                  <a:srgbClr val="17233B"/>
                </a:solidFill>
                <a:latin typeface="Aptos"/>
              </a:rPr>
              <a:t>→ Bước verify bằng ảnh giúp sửa lỗi chọn frame.</a:t>
            </a:r>
            <a:endParaRPr lang="vi-VN"/>
          </a:p>
        </p:txBody>
      </p:sp>
      <p:sp>
        <p:nvSpPr>
          <p:cNvPr id="17" name="Text 17"/>
          <p:cNvSpPr txBox="1"/>
          <p:nvPr/>
        </p:nvSpPr>
        <p:spPr>
          <a:xfrm>
            <a:off x="612648" y="5522976"/>
            <a:ext cx="10972800" cy="4846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800">
                <a:solidFill>
                  <a:srgbClr val="17233B"/>
                </a:solidFill>
                <a:latin typeface="Aptos"/>
              </a:rPr>
              <a:t>Lỗi cuối cùng có thể đến từ retrieval, evidence selection hoặc khả năng đọc của VLM.</a:t>
            </a:r>
            <a:endParaRPr lang="vi-V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438912" y="21945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000" b="1">
                <a:solidFill>
                  <a:srgbClr val="0F9E90"/>
                </a:solidFill>
                <a:latin typeface="Aptos"/>
              </a:rPr>
              <a:t>PHỤ LỤC SỐ LIỆU</a:t>
            </a:r>
            <a:endParaRPr lang="vi-VN"/>
          </a:p>
        </p:txBody>
      </p:sp>
      <p:sp>
        <p:nvSpPr>
          <p:cNvPr id="5" name="Text 5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2800" b="1">
                <a:solidFill>
                  <a:srgbClr val="17233B"/>
                </a:solidFill>
                <a:latin typeface="Aptos"/>
              </a:rPr>
              <a:t>Retrieval ablation · đầy đủ E1–E8</a:t>
            </a:r>
            <a:endParaRPr lang="vi-VN"/>
          </a:p>
        </p:txBody>
      </p:sp>
      <p:sp>
        <p:nvSpPr>
          <p:cNvPr id="6" name="Shape 6"/>
          <p:cNvSpPr/>
          <p:nvPr/>
        </p:nvSpPr>
        <p:spPr>
          <a:xfrm>
            <a:off x="438912" y="1161288"/>
            <a:ext cx="11292840" cy="13716"/>
          </a:xfrm>
          <a:prstGeom prst="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448056" y="6574536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800">
                <a:solidFill>
                  <a:srgbClr val="596579"/>
                </a:solidFill>
                <a:latin typeface="Aptos"/>
              </a:rPr>
              <a:t>VIDEO RAG  /  AIC 2025</a:t>
            </a:r>
            <a:endParaRPr lang="vi-VN"/>
          </a:p>
        </p:txBody>
      </p:sp>
      <p:sp>
        <p:nvSpPr>
          <p:cNvPr id="8" name="Text 8"/>
          <p:cNvSpPr txBox="1"/>
          <p:nvPr/>
        </p:nvSpPr>
        <p:spPr>
          <a:xfrm>
            <a:off x="11119104" y="652881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000">
                <a:solidFill>
                  <a:srgbClr val="596579"/>
                </a:solidFill>
                <a:latin typeface="Aptos"/>
              </a:rPr>
              <a:t>22</a:t>
            </a:r>
            <a:endParaRPr lang="vi-VN"/>
          </a:p>
        </p:txBody>
      </p:sp>
      <p:sp>
        <p:nvSpPr>
          <p:cNvPr id="9" name="Shape 9"/>
          <p:cNvSpPr/>
          <p:nvPr/>
        </p:nvSpPr>
        <p:spPr>
          <a:xfrm>
            <a:off x="548640" y="1490472"/>
            <a:ext cx="11073384" cy="457200"/>
          </a:xfrm>
          <a:prstGeom prst="rect">
            <a:avLst/>
          </a:prstGeom>
          <a:solidFill>
            <a:srgbClr val="17233B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658368" y="1600200"/>
            <a:ext cx="50292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 b="1">
                <a:solidFill>
                  <a:srgbClr val="FFFFFF"/>
                </a:solidFill>
                <a:latin typeface="Aptos"/>
              </a:rPr>
              <a:t>ID</a:t>
            </a:r>
            <a:endParaRPr lang="vi-VN"/>
          </a:p>
        </p:txBody>
      </p:sp>
      <p:sp>
        <p:nvSpPr>
          <p:cNvPr id="11" name="Text 11"/>
          <p:cNvSpPr txBox="1"/>
          <p:nvPr/>
        </p:nvSpPr>
        <p:spPr>
          <a:xfrm>
            <a:off x="1280160" y="1600200"/>
            <a:ext cx="3273552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 b="1">
                <a:solidFill>
                  <a:srgbClr val="FFFFFF"/>
                </a:solidFill>
                <a:latin typeface="Aptos"/>
              </a:rPr>
              <a:t>Cấu hình</a:t>
            </a:r>
            <a:endParaRPr lang="vi-VN"/>
          </a:p>
        </p:txBody>
      </p:sp>
      <p:sp>
        <p:nvSpPr>
          <p:cNvPr id="12" name="Text 12"/>
          <p:cNvSpPr txBox="1"/>
          <p:nvPr/>
        </p:nvSpPr>
        <p:spPr>
          <a:xfrm>
            <a:off x="4663440" y="1600200"/>
            <a:ext cx="1024128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 b="1">
                <a:solidFill>
                  <a:srgbClr val="FFFFFF"/>
                </a:solidFill>
                <a:latin typeface="Aptos"/>
              </a:rPr>
              <a:t>R@10</a:t>
            </a:r>
            <a:endParaRPr lang="vi-VN"/>
          </a:p>
        </p:txBody>
      </p:sp>
      <p:sp>
        <p:nvSpPr>
          <p:cNvPr id="13" name="Text 13"/>
          <p:cNvSpPr txBox="1"/>
          <p:nvPr/>
        </p:nvSpPr>
        <p:spPr>
          <a:xfrm>
            <a:off x="5925312" y="1600200"/>
            <a:ext cx="1024128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 b="1">
                <a:solidFill>
                  <a:srgbClr val="FFFFFF"/>
                </a:solidFill>
                <a:latin typeface="Aptos"/>
              </a:rPr>
              <a:t>R@50</a:t>
            </a:r>
            <a:endParaRPr lang="vi-VN"/>
          </a:p>
        </p:txBody>
      </p:sp>
      <p:sp>
        <p:nvSpPr>
          <p:cNvPr id="14" name="Text 14"/>
          <p:cNvSpPr txBox="1"/>
          <p:nvPr/>
        </p:nvSpPr>
        <p:spPr>
          <a:xfrm>
            <a:off x="7178040" y="1600200"/>
            <a:ext cx="1024128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 b="1">
                <a:solidFill>
                  <a:srgbClr val="FFFFFF"/>
                </a:solidFill>
                <a:latin typeface="Aptos"/>
              </a:rPr>
              <a:t>R@300</a:t>
            </a:r>
            <a:endParaRPr lang="vi-VN"/>
          </a:p>
        </p:txBody>
      </p:sp>
      <p:sp>
        <p:nvSpPr>
          <p:cNvPr id="15" name="Text 15"/>
          <p:cNvSpPr txBox="1"/>
          <p:nvPr/>
        </p:nvSpPr>
        <p:spPr>
          <a:xfrm>
            <a:off x="8430768" y="1600200"/>
            <a:ext cx="1124712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 b="1">
                <a:solidFill>
                  <a:srgbClr val="FFFFFF"/>
                </a:solidFill>
                <a:latin typeface="Aptos"/>
              </a:rPr>
              <a:t>MRR@10</a:t>
            </a:r>
            <a:endParaRPr lang="vi-VN"/>
          </a:p>
        </p:txBody>
      </p:sp>
      <p:sp>
        <p:nvSpPr>
          <p:cNvPr id="16" name="Text 16"/>
          <p:cNvSpPr txBox="1"/>
          <p:nvPr/>
        </p:nvSpPr>
        <p:spPr>
          <a:xfrm>
            <a:off x="9848088" y="1600200"/>
            <a:ext cx="1307592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 b="1">
                <a:solidFill>
                  <a:srgbClr val="FFFFFF"/>
                </a:solidFill>
                <a:latin typeface="Aptos"/>
              </a:rPr>
              <a:t>nDCG@10</a:t>
            </a:r>
            <a:endParaRPr lang="vi-VN"/>
          </a:p>
        </p:txBody>
      </p:sp>
      <p:sp>
        <p:nvSpPr>
          <p:cNvPr id="17" name="Shape 17"/>
          <p:cNvSpPr/>
          <p:nvPr/>
        </p:nvSpPr>
        <p:spPr>
          <a:xfrm>
            <a:off x="548640" y="1993392"/>
            <a:ext cx="11073384" cy="438912"/>
          </a:xfrm>
          <a:prstGeom prst="rect">
            <a:avLst/>
          </a:prstGeom>
          <a:solidFill>
            <a:srgbClr val="F3F7FC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658368" y="2093976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 b="1">
                <a:solidFill>
                  <a:srgbClr val="17233B"/>
                </a:solidFill>
                <a:latin typeface="Aptos"/>
              </a:rPr>
              <a:t>E1</a:t>
            </a:r>
            <a:endParaRPr lang="vi-VN"/>
          </a:p>
        </p:txBody>
      </p:sp>
      <p:sp>
        <p:nvSpPr>
          <p:cNvPr id="19" name="Text 19"/>
          <p:cNvSpPr txBox="1"/>
          <p:nvPr/>
        </p:nvSpPr>
        <p:spPr>
          <a:xfrm>
            <a:off x="1280160" y="2093976"/>
            <a:ext cx="327355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Dense baseline</a:t>
            </a:r>
            <a:endParaRPr lang="vi-VN"/>
          </a:p>
        </p:txBody>
      </p:sp>
      <p:sp>
        <p:nvSpPr>
          <p:cNvPr id="20" name="Text 20"/>
          <p:cNvSpPr txBox="1"/>
          <p:nvPr/>
        </p:nvSpPr>
        <p:spPr>
          <a:xfrm>
            <a:off x="4663440" y="2093976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.392</a:t>
            </a:r>
            <a:endParaRPr lang="vi-VN"/>
          </a:p>
        </p:txBody>
      </p:sp>
      <p:sp>
        <p:nvSpPr>
          <p:cNvPr id="21" name="Text 21"/>
          <p:cNvSpPr txBox="1"/>
          <p:nvPr/>
        </p:nvSpPr>
        <p:spPr>
          <a:xfrm>
            <a:off x="5925312" y="2093976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.578</a:t>
            </a:r>
            <a:endParaRPr lang="vi-VN"/>
          </a:p>
        </p:txBody>
      </p:sp>
      <p:sp>
        <p:nvSpPr>
          <p:cNvPr id="22" name="Text 22"/>
          <p:cNvSpPr txBox="1"/>
          <p:nvPr/>
        </p:nvSpPr>
        <p:spPr>
          <a:xfrm>
            <a:off x="7178040" y="2093976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.701</a:t>
            </a:r>
            <a:endParaRPr lang="vi-VN"/>
          </a:p>
        </p:txBody>
      </p:sp>
      <p:sp>
        <p:nvSpPr>
          <p:cNvPr id="23" name="Text 23"/>
          <p:cNvSpPr txBox="1"/>
          <p:nvPr/>
        </p:nvSpPr>
        <p:spPr>
          <a:xfrm>
            <a:off x="8430768" y="2093976"/>
            <a:ext cx="112471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.417</a:t>
            </a:r>
            <a:endParaRPr lang="vi-VN"/>
          </a:p>
        </p:txBody>
      </p:sp>
      <p:sp>
        <p:nvSpPr>
          <p:cNvPr id="24" name="Text 24"/>
          <p:cNvSpPr txBox="1"/>
          <p:nvPr/>
        </p:nvSpPr>
        <p:spPr>
          <a:xfrm>
            <a:off x="9848088" y="2093976"/>
            <a:ext cx="130759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.512</a:t>
            </a:r>
            <a:endParaRPr lang="vi-VN"/>
          </a:p>
        </p:txBody>
      </p:sp>
      <p:sp>
        <p:nvSpPr>
          <p:cNvPr id="25" name="Text 25"/>
          <p:cNvSpPr txBox="1"/>
          <p:nvPr/>
        </p:nvSpPr>
        <p:spPr>
          <a:xfrm>
            <a:off x="658368" y="2551176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 b="1">
                <a:solidFill>
                  <a:srgbClr val="17233B"/>
                </a:solidFill>
                <a:latin typeface="Aptos"/>
              </a:rPr>
              <a:t>E2</a:t>
            </a:r>
            <a:endParaRPr lang="vi-VN"/>
          </a:p>
        </p:txBody>
      </p:sp>
      <p:sp>
        <p:nvSpPr>
          <p:cNvPr id="26" name="Text 26"/>
          <p:cNvSpPr txBox="1"/>
          <p:nvPr/>
        </p:nvSpPr>
        <p:spPr>
          <a:xfrm>
            <a:off x="1280160" y="2551176"/>
            <a:ext cx="327355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Variants + RRF</a:t>
            </a:r>
            <a:endParaRPr lang="vi-VN"/>
          </a:p>
        </p:txBody>
      </p:sp>
      <p:sp>
        <p:nvSpPr>
          <p:cNvPr id="27" name="Text 27"/>
          <p:cNvSpPr txBox="1"/>
          <p:nvPr/>
        </p:nvSpPr>
        <p:spPr>
          <a:xfrm>
            <a:off x="4663440" y="2551176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.458</a:t>
            </a:r>
            <a:endParaRPr lang="vi-VN"/>
          </a:p>
        </p:txBody>
      </p:sp>
      <p:sp>
        <p:nvSpPr>
          <p:cNvPr id="28" name="Text 28"/>
          <p:cNvSpPr txBox="1"/>
          <p:nvPr/>
        </p:nvSpPr>
        <p:spPr>
          <a:xfrm>
            <a:off x="5925312" y="2551176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.612</a:t>
            </a:r>
            <a:endParaRPr lang="vi-VN"/>
          </a:p>
        </p:txBody>
      </p:sp>
      <p:sp>
        <p:nvSpPr>
          <p:cNvPr id="29" name="Text 29"/>
          <p:cNvSpPr txBox="1"/>
          <p:nvPr/>
        </p:nvSpPr>
        <p:spPr>
          <a:xfrm>
            <a:off x="7178040" y="2551176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.727</a:t>
            </a:r>
            <a:endParaRPr lang="vi-VN"/>
          </a:p>
        </p:txBody>
      </p:sp>
      <p:sp>
        <p:nvSpPr>
          <p:cNvPr id="30" name="Text 30"/>
          <p:cNvSpPr txBox="1"/>
          <p:nvPr/>
        </p:nvSpPr>
        <p:spPr>
          <a:xfrm>
            <a:off x="8430768" y="2551176"/>
            <a:ext cx="112471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.536</a:t>
            </a:r>
            <a:endParaRPr lang="vi-VN"/>
          </a:p>
        </p:txBody>
      </p:sp>
      <p:sp>
        <p:nvSpPr>
          <p:cNvPr id="31" name="Text 31"/>
          <p:cNvSpPr txBox="1"/>
          <p:nvPr/>
        </p:nvSpPr>
        <p:spPr>
          <a:xfrm>
            <a:off x="9848088" y="2551176"/>
            <a:ext cx="130759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.587</a:t>
            </a:r>
            <a:endParaRPr lang="vi-VN"/>
          </a:p>
        </p:txBody>
      </p:sp>
      <p:sp>
        <p:nvSpPr>
          <p:cNvPr id="32" name="Shape 32"/>
          <p:cNvSpPr/>
          <p:nvPr/>
        </p:nvSpPr>
        <p:spPr>
          <a:xfrm>
            <a:off x="548640" y="2907792"/>
            <a:ext cx="11073384" cy="438912"/>
          </a:xfrm>
          <a:prstGeom prst="rect">
            <a:avLst/>
          </a:prstGeom>
          <a:solidFill>
            <a:srgbClr val="F3F7FC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658368" y="3008376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 b="1">
                <a:solidFill>
                  <a:srgbClr val="17233B"/>
                </a:solidFill>
                <a:latin typeface="Aptos"/>
              </a:rPr>
              <a:t>E3</a:t>
            </a:r>
            <a:endParaRPr lang="vi-VN"/>
          </a:p>
        </p:txBody>
      </p:sp>
      <p:sp>
        <p:nvSpPr>
          <p:cNvPr id="34" name="Text 34"/>
          <p:cNvSpPr txBox="1"/>
          <p:nvPr/>
        </p:nvSpPr>
        <p:spPr>
          <a:xfrm>
            <a:off x="1280160" y="3008376"/>
            <a:ext cx="327355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Object boost</a:t>
            </a:r>
            <a:endParaRPr lang="vi-VN"/>
          </a:p>
        </p:txBody>
      </p:sp>
      <p:sp>
        <p:nvSpPr>
          <p:cNvPr id="35" name="Text 35"/>
          <p:cNvSpPr txBox="1"/>
          <p:nvPr/>
        </p:nvSpPr>
        <p:spPr>
          <a:xfrm>
            <a:off x="4663440" y="3008376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.458</a:t>
            </a:r>
            <a:endParaRPr lang="vi-VN"/>
          </a:p>
        </p:txBody>
      </p:sp>
      <p:sp>
        <p:nvSpPr>
          <p:cNvPr id="36" name="Text 36"/>
          <p:cNvSpPr txBox="1"/>
          <p:nvPr/>
        </p:nvSpPr>
        <p:spPr>
          <a:xfrm>
            <a:off x="5925312" y="3008376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.607</a:t>
            </a:r>
            <a:endParaRPr lang="vi-VN"/>
          </a:p>
        </p:txBody>
      </p:sp>
      <p:sp>
        <p:nvSpPr>
          <p:cNvPr id="37" name="Text 37"/>
          <p:cNvSpPr txBox="1"/>
          <p:nvPr/>
        </p:nvSpPr>
        <p:spPr>
          <a:xfrm>
            <a:off x="7178040" y="3008376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.727</a:t>
            </a:r>
            <a:endParaRPr lang="vi-VN"/>
          </a:p>
        </p:txBody>
      </p:sp>
      <p:sp>
        <p:nvSpPr>
          <p:cNvPr id="38" name="Text 38"/>
          <p:cNvSpPr txBox="1"/>
          <p:nvPr/>
        </p:nvSpPr>
        <p:spPr>
          <a:xfrm>
            <a:off x="8430768" y="3008376"/>
            <a:ext cx="112471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.536</a:t>
            </a:r>
            <a:endParaRPr lang="vi-VN"/>
          </a:p>
        </p:txBody>
      </p:sp>
      <p:sp>
        <p:nvSpPr>
          <p:cNvPr id="39" name="Text 39"/>
          <p:cNvSpPr txBox="1"/>
          <p:nvPr/>
        </p:nvSpPr>
        <p:spPr>
          <a:xfrm>
            <a:off x="9848088" y="3008376"/>
            <a:ext cx="130759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.589</a:t>
            </a:r>
            <a:endParaRPr lang="vi-VN"/>
          </a:p>
        </p:txBody>
      </p:sp>
      <p:sp>
        <p:nvSpPr>
          <p:cNvPr id="40" name="Text 40"/>
          <p:cNvSpPr txBox="1"/>
          <p:nvPr/>
        </p:nvSpPr>
        <p:spPr>
          <a:xfrm>
            <a:off x="658368" y="3465576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 b="1">
                <a:solidFill>
                  <a:srgbClr val="17233B"/>
                </a:solidFill>
                <a:latin typeface="Aptos"/>
              </a:rPr>
              <a:t>E4</a:t>
            </a:r>
            <a:endParaRPr lang="vi-VN"/>
          </a:p>
        </p:txBody>
      </p:sp>
      <p:sp>
        <p:nvSpPr>
          <p:cNvPr id="41" name="Text 41"/>
          <p:cNvSpPr txBox="1"/>
          <p:nvPr/>
        </p:nvSpPr>
        <p:spPr>
          <a:xfrm>
            <a:off x="1280160" y="3465576"/>
            <a:ext cx="327355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SuperGlobal</a:t>
            </a:r>
            <a:endParaRPr lang="vi-VN"/>
          </a:p>
        </p:txBody>
      </p:sp>
      <p:sp>
        <p:nvSpPr>
          <p:cNvPr id="42" name="Text 42"/>
          <p:cNvSpPr txBox="1"/>
          <p:nvPr/>
        </p:nvSpPr>
        <p:spPr>
          <a:xfrm>
            <a:off x="4663440" y="3465576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.362</a:t>
            </a:r>
            <a:endParaRPr lang="vi-VN"/>
          </a:p>
        </p:txBody>
      </p:sp>
      <p:sp>
        <p:nvSpPr>
          <p:cNvPr id="43" name="Text 43"/>
          <p:cNvSpPr txBox="1"/>
          <p:nvPr/>
        </p:nvSpPr>
        <p:spPr>
          <a:xfrm>
            <a:off x="5925312" y="3465576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.612</a:t>
            </a:r>
            <a:endParaRPr lang="vi-VN"/>
          </a:p>
        </p:txBody>
      </p:sp>
      <p:sp>
        <p:nvSpPr>
          <p:cNvPr id="44" name="Text 44"/>
          <p:cNvSpPr txBox="1"/>
          <p:nvPr/>
        </p:nvSpPr>
        <p:spPr>
          <a:xfrm>
            <a:off x="7178040" y="3465576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.727</a:t>
            </a:r>
            <a:endParaRPr lang="vi-VN"/>
          </a:p>
        </p:txBody>
      </p:sp>
      <p:sp>
        <p:nvSpPr>
          <p:cNvPr id="45" name="Text 45"/>
          <p:cNvSpPr txBox="1"/>
          <p:nvPr/>
        </p:nvSpPr>
        <p:spPr>
          <a:xfrm>
            <a:off x="8430768" y="3465576"/>
            <a:ext cx="112471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.326</a:t>
            </a:r>
            <a:endParaRPr lang="vi-VN"/>
          </a:p>
        </p:txBody>
      </p:sp>
      <p:sp>
        <p:nvSpPr>
          <p:cNvPr id="46" name="Text 46"/>
          <p:cNvSpPr txBox="1"/>
          <p:nvPr/>
        </p:nvSpPr>
        <p:spPr>
          <a:xfrm>
            <a:off x="9848088" y="3465576"/>
            <a:ext cx="130759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.427</a:t>
            </a:r>
            <a:endParaRPr lang="vi-VN"/>
          </a:p>
        </p:txBody>
      </p:sp>
      <p:sp>
        <p:nvSpPr>
          <p:cNvPr id="47" name="Shape 47"/>
          <p:cNvSpPr/>
          <p:nvPr/>
        </p:nvSpPr>
        <p:spPr>
          <a:xfrm>
            <a:off x="548640" y="3822192"/>
            <a:ext cx="11073384" cy="438912"/>
          </a:xfrm>
          <a:prstGeom prst="rect">
            <a:avLst/>
          </a:prstGeom>
          <a:solidFill>
            <a:srgbClr val="F3F7FC"/>
          </a:solidFill>
          <a:ln>
            <a:noFill/>
          </a:ln>
        </p:spPr>
      </p:sp>
      <p:sp>
        <p:nvSpPr>
          <p:cNvPr id="48" name="Text 48"/>
          <p:cNvSpPr txBox="1"/>
          <p:nvPr/>
        </p:nvSpPr>
        <p:spPr>
          <a:xfrm>
            <a:off x="658368" y="3922776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 b="1">
                <a:solidFill>
                  <a:srgbClr val="17233B"/>
                </a:solidFill>
                <a:latin typeface="Aptos"/>
              </a:rPr>
              <a:t>E5</a:t>
            </a:r>
            <a:endParaRPr lang="vi-VN"/>
          </a:p>
        </p:txBody>
      </p:sp>
      <p:sp>
        <p:nvSpPr>
          <p:cNvPr id="49" name="Text 49"/>
          <p:cNvSpPr txBox="1"/>
          <p:nvPr/>
        </p:nvSpPr>
        <p:spPr>
          <a:xfrm>
            <a:off x="1280160" y="3922776"/>
            <a:ext cx="327355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Runtime crops</a:t>
            </a:r>
            <a:endParaRPr lang="vi-VN"/>
          </a:p>
        </p:txBody>
      </p:sp>
      <p:sp>
        <p:nvSpPr>
          <p:cNvPr id="50" name="Text 50"/>
          <p:cNvSpPr txBox="1"/>
          <p:nvPr/>
        </p:nvSpPr>
        <p:spPr>
          <a:xfrm>
            <a:off x="4663440" y="3922776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.458</a:t>
            </a:r>
            <a:endParaRPr lang="vi-VN"/>
          </a:p>
        </p:txBody>
      </p:sp>
      <p:sp>
        <p:nvSpPr>
          <p:cNvPr id="51" name="Text 51"/>
          <p:cNvSpPr txBox="1"/>
          <p:nvPr/>
        </p:nvSpPr>
        <p:spPr>
          <a:xfrm>
            <a:off x="5925312" y="3922776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.612</a:t>
            </a:r>
            <a:endParaRPr lang="vi-VN"/>
          </a:p>
        </p:txBody>
      </p:sp>
      <p:sp>
        <p:nvSpPr>
          <p:cNvPr id="52" name="Text 52"/>
          <p:cNvSpPr txBox="1"/>
          <p:nvPr/>
        </p:nvSpPr>
        <p:spPr>
          <a:xfrm>
            <a:off x="7178040" y="3922776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.727</a:t>
            </a:r>
            <a:endParaRPr lang="vi-VN"/>
          </a:p>
        </p:txBody>
      </p:sp>
      <p:sp>
        <p:nvSpPr>
          <p:cNvPr id="53" name="Text 53"/>
          <p:cNvSpPr txBox="1"/>
          <p:nvPr/>
        </p:nvSpPr>
        <p:spPr>
          <a:xfrm>
            <a:off x="8430768" y="3922776"/>
            <a:ext cx="112471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.536</a:t>
            </a:r>
            <a:endParaRPr lang="vi-VN"/>
          </a:p>
        </p:txBody>
      </p:sp>
      <p:sp>
        <p:nvSpPr>
          <p:cNvPr id="54" name="Text 54"/>
          <p:cNvSpPr txBox="1"/>
          <p:nvPr/>
        </p:nvSpPr>
        <p:spPr>
          <a:xfrm>
            <a:off x="9848088" y="3922776"/>
            <a:ext cx="130759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.587</a:t>
            </a:r>
            <a:endParaRPr lang="vi-VN"/>
          </a:p>
        </p:txBody>
      </p:sp>
      <p:sp>
        <p:nvSpPr>
          <p:cNvPr id="55" name="Text 55"/>
          <p:cNvSpPr txBox="1"/>
          <p:nvPr/>
        </p:nvSpPr>
        <p:spPr>
          <a:xfrm>
            <a:off x="658368" y="4379976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 b="1">
                <a:solidFill>
                  <a:srgbClr val="17233B"/>
                </a:solidFill>
                <a:latin typeface="Aptos"/>
              </a:rPr>
              <a:t>E6</a:t>
            </a:r>
            <a:endParaRPr lang="vi-VN"/>
          </a:p>
        </p:txBody>
      </p:sp>
      <p:sp>
        <p:nvSpPr>
          <p:cNvPr id="56" name="Text 56"/>
          <p:cNvSpPr txBox="1"/>
          <p:nvPr/>
        </p:nvSpPr>
        <p:spPr>
          <a:xfrm>
            <a:off x="1280160" y="4379976"/>
            <a:ext cx="327355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Temporal evidence</a:t>
            </a:r>
            <a:endParaRPr lang="vi-VN"/>
          </a:p>
        </p:txBody>
      </p:sp>
      <p:sp>
        <p:nvSpPr>
          <p:cNvPr id="57" name="Text 57"/>
          <p:cNvSpPr txBox="1"/>
          <p:nvPr/>
        </p:nvSpPr>
        <p:spPr>
          <a:xfrm>
            <a:off x="4663440" y="4379976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.458</a:t>
            </a:r>
            <a:endParaRPr lang="vi-VN"/>
          </a:p>
        </p:txBody>
      </p:sp>
      <p:sp>
        <p:nvSpPr>
          <p:cNvPr id="58" name="Text 58"/>
          <p:cNvSpPr txBox="1"/>
          <p:nvPr/>
        </p:nvSpPr>
        <p:spPr>
          <a:xfrm>
            <a:off x="5925312" y="4379976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.612</a:t>
            </a:r>
            <a:endParaRPr lang="vi-VN"/>
          </a:p>
        </p:txBody>
      </p:sp>
      <p:sp>
        <p:nvSpPr>
          <p:cNvPr id="59" name="Text 59"/>
          <p:cNvSpPr txBox="1"/>
          <p:nvPr/>
        </p:nvSpPr>
        <p:spPr>
          <a:xfrm>
            <a:off x="7178040" y="4379976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.727</a:t>
            </a:r>
            <a:endParaRPr lang="vi-VN"/>
          </a:p>
        </p:txBody>
      </p:sp>
      <p:sp>
        <p:nvSpPr>
          <p:cNvPr id="60" name="Text 60"/>
          <p:cNvSpPr txBox="1"/>
          <p:nvPr/>
        </p:nvSpPr>
        <p:spPr>
          <a:xfrm>
            <a:off x="8430768" y="4379976"/>
            <a:ext cx="112471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.536</a:t>
            </a:r>
            <a:endParaRPr lang="vi-VN"/>
          </a:p>
        </p:txBody>
      </p:sp>
      <p:sp>
        <p:nvSpPr>
          <p:cNvPr id="61" name="Text 61"/>
          <p:cNvSpPr txBox="1"/>
          <p:nvPr/>
        </p:nvSpPr>
        <p:spPr>
          <a:xfrm>
            <a:off x="9848088" y="4379976"/>
            <a:ext cx="130759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.587</a:t>
            </a:r>
            <a:endParaRPr lang="vi-VN"/>
          </a:p>
        </p:txBody>
      </p:sp>
      <p:sp>
        <p:nvSpPr>
          <p:cNvPr id="62" name="Shape 62"/>
          <p:cNvSpPr/>
          <p:nvPr/>
        </p:nvSpPr>
        <p:spPr>
          <a:xfrm>
            <a:off x="548640" y="4736592"/>
            <a:ext cx="11073384" cy="438912"/>
          </a:xfrm>
          <a:prstGeom prst="rect">
            <a:avLst/>
          </a:prstGeom>
          <a:solidFill>
            <a:srgbClr val="F3F7FC"/>
          </a:solidFill>
          <a:ln>
            <a:noFill/>
          </a:ln>
        </p:spPr>
      </p:sp>
      <p:sp>
        <p:nvSpPr>
          <p:cNvPr id="63" name="Text 63"/>
          <p:cNvSpPr txBox="1"/>
          <p:nvPr/>
        </p:nvSpPr>
        <p:spPr>
          <a:xfrm>
            <a:off x="658368" y="4837176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 b="1">
                <a:solidFill>
                  <a:srgbClr val="17233B"/>
                </a:solidFill>
                <a:latin typeface="Aptos"/>
              </a:rPr>
              <a:t>E7</a:t>
            </a:r>
            <a:endParaRPr lang="vi-VN"/>
          </a:p>
        </p:txBody>
      </p:sp>
      <p:sp>
        <p:nvSpPr>
          <p:cNvPr id="64" name="Text 64"/>
          <p:cNvSpPr txBox="1"/>
          <p:nvPr/>
        </p:nvSpPr>
        <p:spPr>
          <a:xfrm>
            <a:off x="1280160" y="4837176"/>
            <a:ext cx="327355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Shot summaries</a:t>
            </a:r>
            <a:endParaRPr lang="vi-VN"/>
          </a:p>
        </p:txBody>
      </p:sp>
      <p:sp>
        <p:nvSpPr>
          <p:cNvPr id="65" name="Text 65"/>
          <p:cNvSpPr txBox="1"/>
          <p:nvPr/>
        </p:nvSpPr>
        <p:spPr>
          <a:xfrm>
            <a:off x="4663440" y="4837176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.458</a:t>
            </a:r>
            <a:endParaRPr lang="vi-VN"/>
          </a:p>
        </p:txBody>
      </p:sp>
      <p:sp>
        <p:nvSpPr>
          <p:cNvPr id="66" name="Text 66"/>
          <p:cNvSpPr txBox="1"/>
          <p:nvPr/>
        </p:nvSpPr>
        <p:spPr>
          <a:xfrm>
            <a:off x="5925312" y="4837176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.612</a:t>
            </a:r>
            <a:endParaRPr lang="vi-VN"/>
          </a:p>
        </p:txBody>
      </p:sp>
      <p:sp>
        <p:nvSpPr>
          <p:cNvPr id="67" name="Text 67"/>
          <p:cNvSpPr txBox="1"/>
          <p:nvPr/>
        </p:nvSpPr>
        <p:spPr>
          <a:xfrm>
            <a:off x="7178040" y="4837176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.727</a:t>
            </a:r>
            <a:endParaRPr lang="vi-VN"/>
          </a:p>
        </p:txBody>
      </p:sp>
      <p:sp>
        <p:nvSpPr>
          <p:cNvPr id="68" name="Text 68"/>
          <p:cNvSpPr txBox="1"/>
          <p:nvPr/>
        </p:nvSpPr>
        <p:spPr>
          <a:xfrm>
            <a:off x="8430768" y="4837176"/>
            <a:ext cx="112471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.536</a:t>
            </a:r>
            <a:endParaRPr lang="vi-VN"/>
          </a:p>
        </p:txBody>
      </p:sp>
      <p:sp>
        <p:nvSpPr>
          <p:cNvPr id="69" name="Text 69"/>
          <p:cNvSpPr txBox="1"/>
          <p:nvPr/>
        </p:nvSpPr>
        <p:spPr>
          <a:xfrm>
            <a:off x="9848088" y="4837176"/>
            <a:ext cx="130759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.587</a:t>
            </a:r>
            <a:endParaRPr lang="vi-VN"/>
          </a:p>
        </p:txBody>
      </p:sp>
      <p:sp>
        <p:nvSpPr>
          <p:cNvPr id="70" name="Text 70"/>
          <p:cNvSpPr txBox="1"/>
          <p:nvPr/>
        </p:nvSpPr>
        <p:spPr>
          <a:xfrm>
            <a:off x="658368" y="5294376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 b="1">
                <a:solidFill>
                  <a:srgbClr val="0F9E90"/>
                </a:solidFill>
                <a:latin typeface="Aptos"/>
              </a:rPr>
              <a:t>E8</a:t>
            </a:r>
            <a:endParaRPr lang="vi-VN"/>
          </a:p>
        </p:txBody>
      </p:sp>
      <p:sp>
        <p:nvSpPr>
          <p:cNvPr id="71" name="Text 71"/>
          <p:cNvSpPr txBox="1"/>
          <p:nvPr/>
        </p:nvSpPr>
        <p:spPr>
          <a:xfrm>
            <a:off x="1280160" y="5294376"/>
            <a:ext cx="327355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 b="1">
                <a:solidFill>
                  <a:srgbClr val="0F9E90"/>
                </a:solidFill>
                <a:latin typeface="Aptos"/>
              </a:rPr>
              <a:t>ReAct agent</a:t>
            </a:r>
            <a:endParaRPr lang="vi-VN"/>
          </a:p>
        </p:txBody>
      </p:sp>
      <p:sp>
        <p:nvSpPr>
          <p:cNvPr id="72" name="Text 72"/>
          <p:cNvSpPr txBox="1"/>
          <p:nvPr/>
        </p:nvSpPr>
        <p:spPr>
          <a:xfrm>
            <a:off x="4663440" y="5294376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 b="1">
                <a:solidFill>
                  <a:srgbClr val="0F9E90"/>
                </a:solidFill>
                <a:latin typeface="Aptos"/>
              </a:rPr>
              <a:t>.458</a:t>
            </a:r>
            <a:endParaRPr lang="vi-VN"/>
          </a:p>
        </p:txBody>
      </p:sp>
      <p:sp>
        <p:nvSpPr>
          <p:cNvPr id="73" name="Text 73"/>
          <p:cNvSpPr txBox="1"/>
          <p:nvPr/>
        </p:nvSpPr>
        <p:spPr>
          <a:xfrm>
            <a:off x="5925312" y="5294376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 b="1">
                <a:solidFill>
                  <a:srgbClr val="0F9E90"/>
                </a:solidFill>
                <a:latin typeface="Aptos"/>
              </a:rPr>
              <a:t>.612</a:t>
            </a:r>
            <a:endParaRPr lang="vi-VN"/>
          </a:p>
        </p:txBody>
      </p:sp>
      <p:sp>
        <p:nvSpPr>
          <p:cNvPr id="74" name="Text 74"/>
          <p:cNvSpPr txBox="1"/>
          <p:nvPr/>
        </p:nvSpPr>
        <p:spPr>
          <a:xfrm>
            <a:off x="7178040" y="5294376"/>
            <a:ext cx="102412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 b="1">
                <a:solidFill>
                  <a:srgbClr val="0F9E90"/>
                </a:solidFill>
                <a:latin typeface="Aptos"/>
              </a:rPr>
              <a:t>.727</a:t>
            </a:r>
            <a:endParaRPr lang="vi-VN"/>
          </a:p>
        </p:txBody>
      </p:sp>
      <p:sp>
        <p:nvSpPr>
          <p:cNvPr id="75" name="Text 75"/>
          <p:cNvSpPr txBox="1"/>
          <p:nvPr/>
        </p:nvSpPr>
        <p:spPr>
          <a:xfrm>
            <a:off x="8430768" y="5294376"/>
            <a:ext cx="112471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 b="1">
                <a:solidFill>
                  <a:srgbClr val="0F9E90"/>
                </a:solidFill>
                <a:latin typeface="Aptos"/>
              </a:rPr>
              <a:t>.536</a:t>
            </a:r>
            <a:endParaRPr lang="vi-VN"/>
          </a:p>
        </p:txBody>
      </p:sp>
      <p:sp>
        <p:nvSpPr>
          <p:cNvPr id="76" name="Text 76"/>
          <p:cNvSpPr txBox="1"/>
          <p:nvPr/>
        </p:nvSpPr>
        <p:spPr>
          <a:xfrm>
            <a:off x="9848088" y="5294376"/>
            <a:ext cx="130759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 b="1">
                <a:solidFill>
                  <a:srgbClr val="0F9E90"/>
                </a:solidFill>
                <a:latin typeface="Aptos"/>
              </a:rPr>
              <a:t>.587</a:t>
            </a:r>
            <a:endParaRPr lang="vi-VN"/>
          </a:p>
        </p:txBody>
      </p:sp>
      <p:sp>
        <p:nvSpPr>
          <p:cNvPr id="77" name="Text 77"/>
          <p:cNvSpPr txBox="1"/>
          <p:nvPr/>
        </p:nvSpPr>
        <p:spPr>
          <a:xfrm>
            <a:off x="658368" y="5925312"/>
            <a:ext cx="10698480" cy="3383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596579"/>
                </a:solidFill>
                <a:latin typeface="Aptos"/>
              </a:rPr>
              <a:t>14 test QA · range-aware matching · E5–E8 dùng retrieval đầu vào giống E2.</a:t>
            </a:r>
            <a:endParaRPr lang="vi-V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438912" y="21945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000" b="1">
                <a:solidFill>
                  <a:srgbClr val="0F9E90"/>
                </a:solidFill>
                <a:latin typeface="Aptos"/>
              </a:rPr>
              <a:t>PHỤ LỤC SỐ LIỆU</a:t>
            </a:r>
            <a:endParaRPr lang="vi-VN"/>
          </a:p>
        </p:txBody>
      </p:sp>
      <p:sp>
        <p:nvSpPr>
          <p:cNvPr id="5" name="Text 5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2800" b="1">
                <a:solidFill>
                  <a:srgbClr val="17233B"/>
                </a:solidFill>
                <a:latin typeface="Aptos"/>
              </a:rPr>
              <a:t>VQA ablation · đầy đủ E1–E8</a:t>
            </a:r>
            <a:endParaRPr lang="vi-VN"/>
          </a:p>
        </p:txBody>
      </p:sp>
      <p:sp>
        <p:nvSpPr>
          <p:cNvPr id="6" name="Shape 6"/>
          <p:cNvSpPr/>
          <p:nvPr/>
        </p:nvSpPr>
        <p:spPr>
          <a:xfrm>
            <a:off x="438912" y="1161288"/>
            <a:ext cx="11292840" cy="13716"/>
          </a:xfrm>
          <a:prstGeom prst="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448056" y="6574536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800">
                <a:solidFill>
                  <a:srgbClr val="596579"/>
                </a:solidFill>
                <a:latin typeface="Aptos"/>
              </a:rPr>
              <a:t>VIDEO RAG  /  AIC 2025</a:t>
            </a:r>
            <a:endParaRPr lang="vi-VN"/>
          </a:p>
        </p:txBody>
      </p:sp>
      <p:sp>
        <p:nvSpPr>
          <p:cNvPr id="8" name="Text 8"/>
          <p:cNvSpPr txBox="1"/>
          <p:nvPr/>
        </p:nvSpPr>
        <p:spPr>
          <a:xfrm>
            <a:off x="11119104" y="652881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000">
                <a:solidFill>
                  <a:srgbClr val="596579"/>
                </a:solidFill>
                <a:latin typeface="Aptos"/>
              </a:rPr>
              <a:t>23</a:t>
            </a:r>
            <a:endParaRPr lang="vi-VN"/>
          </a:p>
        </p:txBody>
      </p:sp>
      <p:sp>
        <p:nvSpPr>
          <p:cNvPr id="9" name="Shape 9"/>
          <p:cNvSpPr/>
          <p:nvPr/>
        </p:nvSpPr>
        <p:spPr>
          <a:xfrm>
            <a:off x="548640" y="1490472"/>
            <a:ext cx="11073384" cy="457200"/>
          </a:xfrm>
          <a:prstGeom prst="rect">
            <a:avLst/>
          </a:prstGeom>
          <a:solidFill>
            <a:srgbClr val="17233B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640080" y="1600200"/>
            <a:ext cx="50292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200" b="1">
                <a:solidFill>
                  <a:srgbClr val="FFFFFF"/>
                </a:solidFill>
                <a:latin typeface="Aptos"/>
              </a:rPr>
              <a:t>ID</a:t>
            </a:r>
            <a:endParaRPr lang="vi-VN"/>
          </a:p>
        </p:txBody>
      </p:sp>
      <p:sp>
        <p:nvSpPr>
          <p:cNvPr id="11" name="Text 11"/>
          <p:cNvSpPr txBox="1"/>
          <p:nvPr/>
        </p:nvSpPr>
        <p:spPr>
          <a:xfrm>
            <a:off x="1298448" y="1600200"/>
            <a:ext cx="1033272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200" b="1">
                <a:solidFill>
                  <a:srgbClr val="FFFFFF"/>
                </a:solidFill>
                <a:latin typeface="Aptos"/>
              </a:rPr>
              <a:t>Correct</a:t>
            </a:r>
            <a:endParaRPr lang="vi-VN"/>
          </a:p>
        </p:txBody>
      </p:sp>
      <p:sp>
        <p:nvSpPr>
          <p:cNvPr id="12" name="Text 12"/>
          <p:cNvSpPr txBox="1"/>
          <p:nvPr/>
        </p:nvSpPr>
        <p:spPr>
          <a:xfrm>
            <a:off x="2633472" y="1600200"/>
            <a:ext cx="86868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200" b="1">
                <a:solidFill>
                  <a:srgbClr val="FFFFFF"/>
                </a:solidFill>
                <a:latin typeface="Aptos"/>
              </a:rPr>
              <a:t>Faith</a:t>
            </a:r>
            <a:endParaRPr lang="vi-VN"/>
          </a:p>
        </p:txBody>
      </p:sp>
      <p:sp>
        <p:nvSpPr>
          <p:cNvPr id="13" name="Text 13"/>
          <p:cNvSpPr txBox="1"/>
          <p:nvPr/>
        </p:nvSpPr>
        <p:spPr>
          <a:xfrm>
            <a:off x="3794760" y="1600200"/>
            <a:ext cx="1115568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200" b="1">
                <a:solidFill>
                  <a:srgbClr val="FFFFFF"/>
                </a:solidFill>
                <a:latin typeface="Aptos"/>
              </a:rPr>
              <a:t>Visual CR</a:t>
            </a:r>
            <a:endParaRPr lang="vi-VN"/>
          </a:p>
        </p:txBody>
      </p:sp>
      <p:sp>
        <p:nvSpPr>
          <p:cNvPr id="14" name="Text 14"/>
          <p:cNvSpPr txBox="1"/>
          <p:nvPr/>
        </p:nvSpPr>
        <p:spPr>
          <a:xfrm>
            <a:off x="5248656" y="1600200"/>
            <a:ext cx="1225296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200" b="1">
                <a:solidFill>
                  <a:srgbClr val="FFFFFF"/>
                </a:solidFill>
                <a:latin typeface="Aptos"/>
              </a:rPr>
              <a:t>CPrec AP</a:t>
            </a:r>
            <a:endParaRPr lang="vi-VN"/>
          </a:p>
        </p:txBody>
      </p:sp>
      <p:sp>
        <p:nvSpPr>
          <p:cNvPr id="15" name="Text 15"/>
          <p:cNvSpPr txBox="1"/>
          <p:nvPr/>
        </p:nvSpPr>
        <p:spPr>
          <a:xfrm>
            <a:off x="6784848" y="1600200"/>
            <a:ext cx="123444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200" b="1">
                <a:solidFill>
                  <a:srgbClr val="FFFFFF"/>
                </a:solidFill>
                <a:latin typeface="Aptos"/>
              </a:rPr>
              <a:t>Relevance</a:t>
            </a:r>
            <a:endParaRPr lang="vi-VN"/>
          </a:p>
        </p:txBody>
      </p:sp>
      <p:sp>
        <p:nvSpPr>
          <p:cNvPr id="16" name="Text 16"/>
          <p:cNvSpPr txBox="1"/>
          <p:nvPr/>
        </p:nvSpPr>
        <p:spPr>
          <a:xfrm>
            <a:off x="8412480" y="1600200"/>
            <a:ext cx="1216152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200" b="1">
                <a:solidFill>
                  <a:srgbClr val="FFFFFF"/>
                </a:solidFill>
                <a:latin typeface="Aptos"/>
              </a:rPr>
              <a:t>Neg. rej.</a:t>
            </a:r>
            <a:endParaRPr lang="vi-VN"/>
          </a:p>
        </p:txBody>
      </p:sp>
      <p:sp>
        <p:nvSpPr>
          <p:cNvPr id="17" name="Text 17"/>
          <p:cNvSpPr txBox="1"/>
          <p:nvPr/>
        </p:nvSpPr>
        <p:spPr>
          <a:xfrm>
            <a:off x="10040112" y="1600200"/>
            <a:ext cx="1143000" cy="24688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200" b="1">
                <a:solidFill>
                  <a:srgbClr val="FFFFFF"/>
                </a:solidFill>
                <a:latin typeface="Aptos"/>
              </a:rPr>
              <a:t>p50 (s)</a:t>
            </a:r>
            <a:endParaRPr lang="vi-VN"/>
          </a:p>
        </p:txBody>
      </p:sp>
      <p:sp>
        <p:nvSpPr>
          <p:cNvPr id="18" name="Shape 18"/>
          <p:cNvSpPr/>
          <p:nvPr/>
        </p:nvSpPr>
        <p:spPr>
          <a:xfrm>
            <a:off x="548640" y="1993392"/>
            <a:ext cx="11073384" cy="438912"/>
          </a:xfrm>
          <a:prstGeom prst="rect">
            <a:avLst/>
          </a:prstGeom>
          <a:solidFill>
            <a:srgbClr val="F3F7FC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640080" y="2093976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 b="1">
                <a:solidFill>
                  <a:srgbClr val="17233B"/>
                </a:solidFill>
                <a:latin typeface="Aptos"/>
              </a:rPr>
              <a:t>E1</a:t>
            </a:r>
            <a:endParaRPr lang="vi-VN"/>
          </a:p>
        </p:txBody>
      </p:sp>
      <p:sp>
        <p:nvSpPr>
          <p:cNvPr id="20" name="Text 20"/>
          <p:cNvSpPr txBox="1"/>
          <p:nvPr/>
        </p:nvSpPr>
        <p:spPr>
          <a:xfrm>
            <a:off x="1298448" y="2093976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.250</a:t>
            </a:r>
            <a:endParaRPr lang="vi-VN"/>
          </a:p>
        </p:txBody>
      </p:sp>
      <p:sp>
        <p:nvSpPr>
          <p:cNvPr id="21" name="Text 21"/>
          <p:cNvSpPr txBox="1"/>
          <p:nvPr/>
        </p:nvSpPr>
        <p:spPr>
          <a:xfrm>
            <a:off x="2633472" y="2093976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.786</a:t>
            </a:r>
            <a:endParaRPr lang="vi-VN"/>
          </a:p>
        </p:txBody>
      </p:sp>
      <p:sp>
        <p:nvSpPr>
          <p:cNvPr id="22" name="Text 22"/>
          <p:cNvSpPr txBox="1"/>
          <p:nvPr/>
        </p:nvSpPr>
        <p:spPr>
          <a:xfrm>
            <a:off x="3794760" y="2093976"/>
            <a:ext cx="111556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.528</a:t>
            </a:r>
            <a:endParaRPr lang="vi-VN"/>
          </a:p>
        </p:txBody>
      </p:sp>
      <p:sp>
        <p:nvSpPr>
          <p:cNvPr id="23" name="Text 23"/>
          <p:cNvSpPr txBox="1"/>
          <p:nvPr/>
        </p:nvSpPr>
        <p:spPr>
          <a:xfrm>
            <a:off x="5248656" y="2093976"/>
            <a:ext cx="122529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.417</a:t>
            </a:r>
            <a:endParaRPr lang="vi-VN"/>
          </a:p>
        </p:txBody>
      </p:sp>
      <p:sp>
        <p:nvSpPr>
          <p:cNvPr id="24" name="Text 24"/>
          <p:cNvSpPr txBox="1"/>
          <p:nvPr/>
        </p:nvSpPr>
        <p:spPr>
          <a:xfrm>
            <a:off x="6784848" y="2093976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.655</a:t>
            </a:r>
            <a:endParaRPr lang="vi-VN"/>
          </a:p>
        </p:txBody>
      </p:sp>
      <p:sp>
        <p:nvSpPr>
          <p:cNvPr id="25" name="Text 25"/>
          <p:cNvSpPr txBox="1"/>
          <p:nvPr/>
        </p:nvSpPr>
        <p:spPr>
          <a:xfrm>
            <a:off x="8412480" y="2093976"/>
            <a:ext cx="121615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1.0</a:t>
            </a:r>
            <a:endParaRPr lang="vi-VN"/>
          </a:p>
        </p:txBody>
      </p:sp>
      <p:sp>
        <p:nvSpPr>
          <p:cNvPr id="26" name="Text 26"/>
          <p:cNvSpPr txBox="1"/>
          <p:nvPr/>
        </p:nvSpPr>
        <p:spPr>
          <a:xfrm>
            <a:off x="10040112" y="2093976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21.9</a:t>
            </a:r>
            <a:endParaRPr lang="vi-VN"/>
          </a:p>
        </p:txBody>
      </p:sp>
      <p:sp>
        <p:nvSpPr>
          <p:cNvPr id="27" name="Text 27"/>
          <p:cNvSpPr txBox="1"/>
          <p:nvPr/>
        </p:nvSpPr>
        <p:spPr>
          <a:xfrm>
            <a:off x="640080" y="2551176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 b="1">
                <a:solidFill>
                  <a:srgbClr val="17233B"/>
                </a:solidFill>
                <a:latin typeface="Aptos"/>
              </a:rPr>
              <a:t>E2</a:t>
            </a:r>
            <a:endParaRPr lang="vi-VN"/>
          </a:p>
        </p:txBody>
      </p:sp>
      <p:sp>
        <p:nvSpPr>
          <p:cNvPr id="28" name="Text 28"/>
          <p:cNvSpPr txBox="1"/>
          <p:nvPr/>
        </p:nvSpPr>
        <p:spPr>
          <a:xfrm>
            <a:off x="1298448" y="2551176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.250</a:t>
            </a:r>
            <a:endParaRPr lang="vi-VN"/>
          </a:p>
        </p:txBody>
      </p:sp>
      <p:sp>
        <p:nvSpPr>
          <p:cNvPr id="29" name="Text 29"/>
          <p:cNvSpPr txBox="1"/>
          <p:nvPr/>
        </p:nvSpPr>
        <p:spPr>
          <a:xfrm>
            <a:off x="2633472" y="2551176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.571</a:t>
            </a:r>
            <a:endParaRPr lang="vi-VN"/>
          </a:p>
        </p:txBody>
      </p:sp>
      <p:sp>
        <p:nvSpPr>
          <p:cNvPr id="30" name="Text 30"/>
          <p:cNvSpPr txBox="1"/>
          <p:nvPr/>
        </p:nvSpPr>
        <p:spPr>
          <a:xfrm>
            <a:off x="3794760" y="2551176"/>
            <a:ext cx="111556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.472</a:t>
            </a:r>
            <a:endParaRPr lang="vi-VN"/>
          </a:p>
        </p:txBody>
      </p:sp>
      <p:sp>
        <p:nvSpPr>
          <p:cNvPr id="31" name="Text 31"/>
          <p:cNvSpPr txBox="1"/>
          <p:nvPr/>
        </p:nvSpPr>
        <p:spPr>
          <a:xfrm>
            <a:off x="5248656" y="2551176"/>
            <a:ext cx="122529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.476</a:t>
            </a:r>
            <a:endParaRPr lang="vi-VN"/>
          </a:p>
        </p:txBody>
      </p:sp>
      <p:sp>
        <p:nvSpPr>
          <p:cNvPr id="32" name="Text 32"/>
          <p:cNvSpPr txBox="1"/>
          <p:nvPr/>
        </p:nvSpPr>
        <p:spPr>
          <a:xfrm>
            <a:off x="6784848" y="2551176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.680</a:t>
            </a:r>
            <a:endParaRPr lang="vi-VN"/>
          </a:p>
        </p:txBody>
      </p:sp>
      <p:sp>
        <p:nvSpPr>
          <p:cNvPr id="33" name="Text 33"/>
          <p:cNvSpPr txBox="1"/>
          <p:nvPr/>
        </p:nvSpPr>
        <p:spPr>
          <a:xfrm>
            <a:off x="8412480" y="2551176"/>
            <a:ext cx="121615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1.0</a:t>
            </a:r>
            <a:endParaRPr lang="vi-VN"/>
          </a:p>
        </p:txBody>
      </p:sp>
      <p:sp>
        <p:nvSpPr>
          <p:cNvPr id="34" name="Text 34"/>
          <p:cNvSpPr txBox="1"/>
          <p:nvPr/>
        </p:nvSpPr>
        <p:spPr>
          <a:xfrm>
            <a:off x="10040112" y="2551176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9.8</a:t>
            </a:r>
            <a:endParaRPr lang="vi-VN"/>
          </a:p>
        </p:txBody>
      </p:sp>
      <p:sp>
        <p:nvSpPr>
          <p:cNvPr id="35" name="Shape 35"/>
          <p:cNvSpPr/>
          <p:nvPr/>
        </p:nvSpPr>
        <p:spPr>
          <a:xfrm>
            <a:off x="548640" y="2907792"/>
            <a:ext cx="11073384" cy="438912"/>
          </a:xfrm>
          <a:prstGeom prst="rect">
            <a:avLst/>
          </a:prstGeom>
          <a:solidFill>
            <a:srgbClr val="F3F7FC"/>
          </a:solidFill>
          <a:ln>
            <a:noFill/>
          </a:ln>
        </p:spPr>
      </p:sp>
      <p:sp>
        <p:nvSpPr>
          <p:cNvPr id="36" name="Text 36"/>
          <p:cNvSpPr txBox="1"/>
          <p:nvPr/>
        </p:nvSpPr>
        <p:spPr>
          <a:xfrm>
            <a:off x="640080" y="3008376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 b="1">
                <a:solidFill>
                  <a:srgbClr val="17233B"/>
                </a:solidFill>
                <a:latin typeface="Aptos"/>
              </a:rPr>
              <a:t>E3</a:t>
            </a:r>
            <a:endParaRPr lang="vi-VN"/>
          </a:p>
        </p:txBody>
      </p:sp>
      <p:sp>
        <p:nvSpPr>
          <p:cNvPr id="37" name="Text 37"/>
          <p:cNvSpPr txBox="1"/>
          <p:nvPr/>
        </p:nvSpPr>
        <p:spPr>
          <a:xfrm>
            <a:off x="1298448" y="3008376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.250</a:t>
            </a:r>
            <a:endParaRPr lang="vi-VN"/>
          </a:p>
        </p:txBody>
      </p:sp>
      <p:sp>
        <p:nvSpPr>
          <p:cNvPr id="38" name="Text 38"/>
          <p:cNvSpPr txBox="1"/>
          <p:nvPr/>
        </p:nvSpPr>
        <p:spPr>
          <a:xfrm>
            <a:off x="2633472" y="3008376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.692</a:t>
            </a:r>
            <a:endParaRPr lang="vi-VN"/>
          </a:p>
        </p:txBody>
      </p:sp>
      <p:sp>
        <p:nvSpPr>
          <p:cNvPr id="39" name="Text 39"/>
          <p:cNvSpPr txBox="1"/>
          <p:nvPr/>
        </p:nvSpPr>
        <p:spPr>
          <a:xfrm>
            <a:off x="3794760" y="3008376"/>
            <a:ext cx="111556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.639</a:t>
            </a:r>
            <a:endParaRPr lang="vi-VN"/>
          </a:p>
        </p:txBody>
      </p:sp>
      <p:sp>
        <p:nvSpPr>
          <p:cNvPr id="40" name="Text 40"/>
          <p:cNvSpPr txBox="1"/>
          <p:nvPr/>
        </p:nvSpPr>
        <p:spPr>
          <a:xfrm>
            <a:off x="5248656" y="3008376"/>
            <a:ext cx="122529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.476</a:t>
            </a:r>
            <a:endParaRPr lang="vi-VN"/>
          </a:p>
        </p:txBody>
      </p:sp>
      <p:sp>
        <p:nvSpPr>
          <p:cNvPr id="41" name="Text 41"/>
          <p:cNvSpPr txBox="1"/>
          <p:nvPr/>
        </p:nvSpPr>
        <p:spPr>
          <a:xfrm>
            <a:off x="6784848" y="3008376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.715</a:t>
            </a:r>
            <a:endParaRPr lang="vi-VN"/>
          </a:p>
        </p:txBody>
      </p:sp>
      <p:sp>
        <p:nvSpPr>
          <p:cNvPr id="42" name="Text 42"/>
          <p:cNvSpPr txBox="1"/>
          <p:nvPr/>
        </p:nvSpPr>
        <p:spPr>
          <a:xfrm>
            <a:off x="8412480" y="3008376"/>
            <a:ext cx="121615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1.0</a:t>
            </a:r>
            <a:endParaRPr lang="vi-VN"/>
          </a:p>
        </p:txBody>
      </p:sp>
      <p:sp>
        <p:nvSpPr>
          <p:cNvPr id="43" name="Text 43"/>
          <p:cNvSpPr txBox="1"/>
          <p:nvPr/>
        </p:nvSpPr>
        <p:spPr>
          <a:xfrm>
            <a:off x="10040112" y="3008376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10.4</a:t>
            </a:r>
            <a:endParaRPr lang="vi-VN"/>
          </a:p>
        </p:txBody>
      </p:sp>
      <p:sp>
        <p:nvSpPr>
          <p:cNvPr id="44" name="Text 44"/>
          <p:cNvSpPr txBox="1"/>
          <p:nvPr/>
        </p:nvSpPr>
        <p:spPr>
          <a:xfrm>
            <a:off x="640080" y="3465576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 b="1">
                <a:solidFill>
                  <a:srgbClr val="17233B"/>
                </a:solidFill>
                <a:latin typeface="Aptos"/>
              </a:rPr>
              <a:t>E4</a:t>
            </a:r>
            <a:endParaRPr lang="vi-VN"/>
          </a:p>
        </p:txBody>
      </p:sp>
      <p:sp>
        <p:nvSpPr>
          <p:cNvPr id="45" name="Text 45"/>
          <p:cNvSpPr txBox="1"/>
          <p:nvPr/>
        </p:nvSpPr>
        <p:spPr>
          <a:xfrm>
            <a:off x="1298448" y="3465576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.167</a:t>
            </a:r>
            <a:endParaRPr lang="vi-VN"/>
          </a:p>
        </p:txBody>
      </p:sp>
      <p:sp>
        <p:nvSpPr>
          <p:cNvPr id="46" name="Text 46"/>
          <p:cNvSpPr txBox="1"/>
          <p:nvPr/>
        </p:nvSpPr>
        <p:spPr>
          <a:xfrm>
            <a:off x="2633472" y="3465576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1.000</a:t>
            </a:r>
            <a:endParaRPr lang="vi-VN"/>
          </a:p>
        </p:txBody>
      </p:sp>
      <p:sp>
        <p:nvSpPr>
          <p:cNvPr id="47" name="Text 47"/>
          <p:cNvSpPr txBox="1"/>
          <p:nvPr/>
        </p:nvSpPr>
        <p:spPr>
          <a:xfrm>
            <a:off x="3794760" y="3465576"/>
            <a:ext cx="111556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.333</a:t>
            </a:r>
            <a:endParaRPr lang="vi-VN"/>
          </a:p>
        </p:txBody>
      </p:sp>
      <p:sp>
        <p:nvSpPr>
          <p:cNvPr id="48" name="Text 48"/>
          <p:cNvSpPr txBox="1"/>
          <p:nvPr/>
        </p:nvSpPr>
        <p:spPr>
          <a:xfrm>
            <a:off x="5248656" y="3465576"/>
            <a:ext cx="122529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.108</a:t>
            </a:r>
            <a:endParaRPr lang="vi-VN"/>
          </a:p>
        </p:txBody>
      </p:sp>
      <p:sp>
        <p:nvSpPr>
          <p:cNvPr id="49" name="Text 49"/>
          <p:cNvSpPr txBox="1"/>
          <p:nvPr/>
        </p:nvSpPr>
        <p:spPr>
          <a:xfrm>
            <a:off x="6784848" y="3465576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.748</a:t>
            </a:r>
            <a:endParaRPr lang="vi-VN"/>
          </a:p>
        </p:txBody>
      </p:sp>
      <p:sp>
        <p:nvSpPr>
          <p:cNvPr id="50" name="Text 50"/>
          <p:cNvSpPr txBox="1"/>
          <p:nvPr/>
        </p:nvSpPr>
        <p:spPr>
          <a:xfrm>
            <a:off x="8412480" y="3465576"/>
            <a:ext cx="121615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1.0</a:t>
            </a:r>
            <a:endParaRPr lang="vi-VN"/>
          </a:p>
        </p:txBody>
      </p:sp>
      <p:sp>
        <p:nvSpPr>
          <p:cNvPr id="51" name="Text 51"/>
          <p:cNvSpPr txBox="1"/>
          <p:nvPr/>
        </p:nvSpPr>
        <p:spPr>
          <a:xfrm>
            <a:off x="10040112" y="3465576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8.8</a:t>
            </a:r>
            <a:endParaRPr lang="vi-VN"/>
          </a:p>
        </p:txBody>
      </p:sp>
      <p:sp>
        <p:nvSpPr>
          <p:cNvPr id="52" name="Shape 52"/>
          <p:cNvSpPr/>
          <p:nvPr/>
        </p:nvSpPr>
        <p:spPr>
          <a:xfrm>
            <a:off x="548640" y="3822192"/>
            <a:ext cx="11073384" cy="438912"/>
          </a:xfrm>
          <a:prstGeom prst="rect">
            <a:avLst/>
          </a:prstGeom>
          <a:solidFill>
            <a:srgbClr val="F3F7FC"/>
          </a:solidFill>
          <a:ln>
            <a:noFill/>
          </a:ln>
        </p:spPr>
      </p:sp>
      <p:sp>
        <p:nvSpPr>
          <p:cNvPr id="53" name="Text 53"/>
          <p:cNvSpPr txBox="1"/>
          <p:nvPr/>
        </p:nvSpPr>
        <p:spPr>
          <a:xfrm>
            <a:off x="640080" y="3922776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 b="1">
                <a:solidFill>
                  <a:srgbClr val="17233B"/>
                </a:solidFill>
                <a:latin typeface="Aptos"/>
              </a:rPr>
              <a:t>E5</a:t>
            </a:r>
            <a:endParaRPr lang="vi-VN"/>
          </a:p>
        </p:txBody>
      </p:sp>
      <p:sp>
        <p:nvSpPr>
          <p:cNvPr id="54" name="Text 54"/>
          <p:cNvSpPr txBox="1"/>
          <p:nvPr/>
        </p:nvSpPr>
        <p:spPr>
          <a:xfrm>
            <a:off x="1298448" y="3922776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.167</a:t>
            </a:r>
            <a:endParaRPr lang="vi-VN"/>
          </a:p>
        </p:txBody>
      </p:sp>
      <p:sp>
        <p:nvSpPr>
          <p:cNvPr id="55" name="Text 55"/>
          <p:cNvSpPr txBox="1"/>
          <p:nvPr/>
        </p:nvSpPr>
        <p:spPr>
          <a:xfrm>
            <a:off x="2633472" y="3922776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.786</a:t>
            </a:r>
            <a:endParaRPr lang="vi-VN"/>
          </a:p>
        </p:txBody>
      </p:sp>
      <p:sp>
        <p:nvSpPr>
          <p:cNvPr id="56" name="Text 56"/>
          <p:cNvSpPr txBox="1"/>
          <p:nvPr/>
        </p:nvSpPr>
        <p:spPr>
          <a:xfrm>
            <a:off x="3794760" y="3922776"/>
            <a:ext cx="111556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.639</a:t>
            </a:r>
            <a:endParaRPr lang="vi-VN"/>
          </a:p>
        </p:txBody>
      </p:sp>
      <p:sp>
        <p:nvSpPr>
          <p:cNvPr id="57" name="Text 57"/>
          <p:cNvSpPr txBox="1"/>
          <p:nvPr/>
        </p:nvSpPr>
        <p:spPr>
          <a:xfrm>
            <a:off x="5248656" y="3922776"/>
            <a:ext cx="122529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.476</a:t>
            </a:r>
            <a:endParaRPr lang="vi-VN"/>
          </a:p>
        </p:txBody>
      </p:sp>
      <p:sp>
        <p:nvSpPr>
          <p:cNvPr id="58" name="Text 58"/>
          <p:cNvSpPr txBox="1"/>
          <p:nvPr/>
        </p:nvSpPr>
        <p:spPr>
          <a:xfrm>
            <a:off x="6784848" y="3922776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.796</a:t>
            </a:r>
            <a:endParaRPr lang="vi-VN"/>
          </a:p>
        </p:txBody>
      </p:sp>
      <p:sp>
        <p:nvSpPr>
          <p:cNvPr id="59" name="Text 59"/>
          <p:cNvSpPr txBox="1"/>
          <p:nvPr/>
        </p:nvSpPr>
        <p:spPr>
          <a:xfrm>
            <a:off x="8412480" y="3922776"/>
            <a:ext cx="121615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1.0</a:t>
            </a:r>
            <a:endParaRPr lang="vi-VN"/>
          </a:p>
        </p:txBody>
      </p:sp>
      <p:sp>
        <p:nvSpPr>
          <p:cNvPr id="60" name="Text 60"/>
          <p:cNvSpPr txBox="1"/>
          <p:nvPr/>
        </p:nvSpPr>
        <p:spPr>
          <a:xfrm>
            <a:off x="10040112" y="3922776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42.7</a:t>
            </a:r>
            <a:endParaRPr lang="vi-VN"/>
          </a:p>
        </p:txBody>
      </p:sp>
      <p:sp>
        <p:nvSpPr>
          <p:cNvPr id="61" name="Text 61"/>
          <p:cNvSpPr txBox="1"/>
          <p:nvPr/>
        </p:nvSpPr>
        <p:spPr>
          <a:xfrm>
            <a:off x="640080" y="4379976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 b="1">
                <a:solidFill>
                  <a:srgbClr val="17233B"/>
                </a:solidFill>
                <a:latin typeface="Aptos"/>
              </a:rPr>
              <a:t>E6</a:t>
            </a:r>
            <a:endParaRPr lang="vi-VN"/>
          </a:p>
        </p:txBody>
      </p:sp>
      <p:sp>
        <p:nvSpPr>
          <p:cNvPr id="62" name="Text 62"/>
          <p:cNvSpPr txBox="1"/>
          <p:nvPr/>
        </p:nvSpPr>
        <p:spPr>
          <a:xfrm>
            <a:off x="1298448" y="4379976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.250</a:t>
            </a:r>
            <a:endParaRPr lang="vi-VN"/>
          </a:p>
        </p:txBody>
      </p:sp>
      <p:sp>
        <p:nvSpPr>
          <p:cNvPr id="63" name="Text 63"/>
          <p:cNvSpPr txBox="1"/>
          <p:nvPr/>
        </p:nvSpPr>
        <p:spPr>
          <a:xfrm>
            <a:off x="2633472" y="4379976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.714</a:t>
            </a:r>
            <a:endParaRPr lang="vi-VN"/>
          </a:p>
        </p:txBody>
      </p:sp>
      <p:sp>
        <p:nvSpPr>
          <p:cNvPr id="64" name="Text 64"/>
          <p:cNvSpPr txBox="1"/>
          <p:nvPr/>
        </p:nvSpPr>
        <p:spPr>
          <a:xfrm>
            <a:off x="3794760" y="4379976"/>
            <a:ext cx="111556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.569</a:t>
            </a:r>
            <a:endParaRPr lang="vi-VN"/>
          </a:p>
        </p:txBody>
      </p:sp>
      <p:sp>
        <p:nvSpPr>
          <p:cNvPr id="65" name="Text 65"/>
          <p:cNvSpPr txBox="1"/>
          <p:nvPr/>
        </p:nvSpPr>
        <p:spPr>
          <a:xfrm>
            <a:off x="5248656" y="4379976"/>
            <a:ext cx="122529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.276</a:t>
            </a:r>
            <a:endParaRPr lang="vi-VN"/>
          </a:p>
        </p:txBody>
      </p:sp>
      <p:sp>
        <p:nvSpPr>
          <p:cNvPr id="66" name="Text 66"/>
          <p:cNvSpPr txBox="1"/>
          <p:nvPr/>
        </p:nvSpPr>
        <p:spPr>
          <a:xfrm>
            <a:off x="6784848" y="4379976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.740</a:t>
            </a:r>
            <a:endParaRPr lang="vi-VN"/>
          </a:p>
        </p:txBody>
      </p:sp>
      <p:sp>
        <p:nvSpPr>
          <p:cNvPr id="67" name="Text 67"/>
          <p:cNvSpPr txBox="1"/>
          <p:nvPr/>
        </p:nvSpPr>
        <p:spPr>
          <a:xfrm>
            <a:off x="8412480" y="4379976"/>
            <a:ext cx="121615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.5</a:t>
            </a:r>
            <a:endParaRPr lang="vi-VN"/>
          </a:p>
        </p:txBody>
      </p:sp>
      <p:sp>
        <p:nvSpPr>
          <p:cNvPr id="68" name="Text 68"/>
          <p:cNvSpPr txBox="1"/>
          <p:nvPr/>
        </p:nvSpPr>
        <p:spPr>
          <a:xfrm>
            <a:off x="10040112" y="4379976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11.9</a:t>
            </a:r>
            <a:endParaRPr lang="vi-VN"/>
          </a:p>
        </p:txBody>
      </p:sp>
      <p:sp>
        <p:nvSpPr>
          <p:cNvPr id="69" name="Shape 69"/>
          <p:cNvSpPr/>
          <p:nvPr/>
        </p:nvSpPr>
        <p:spPr>
          <a:xfrm>
            <a:off x="548640" y="4736592"/>
            <a:ext cx="11073384" cy="438912"/>
          </a:xfrm>
          <a:prstGeom prst="rect">
            <a:avLst/>
          </a:prstGeom>
          <a:solidFill>
            <a:srgbClr val="F3F7FC"/>
          </a:solidFill>
          <a:ln>
            <a:noFill/>
          </a:ln>
        </p:spPr>
      </p:sp>
      <p:sp>
        <p:nvSpPr>
          <p:cNvPr id="70" name="Text 70"/>
          <p:cNvSpPr txBox="1"/>
          <p:nvPr/>
        </p:nvSpPr>
        <p:spPr>
          <a:xfrm>
            <a:off x="640080" y="4837176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 b="1">
                <a:solidFill>
                  <a:srgbClr val="17233B"/>
                </a:solidFill>
                <a:latin typeface="Aptos"/>
              </a:rPr>
              <a:t>E7</a:t>
            </a:r>
            <a:endParaRPr lang="vi-VN"/>
          </a:p>
        </p:txBody>
      </p:sp>
      <p:sp>
        <p:nvSpPr>
          <p:cNvPr id="71" name="Text 71"/>
          <p:cNvSpPr txBox="1"/>
          <p:nvPr/>
        </p:nvSpPr>
        <p:spPr>
          <a:xfrm>
            <a:off x="1298448" y="4837176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.250</a:t>
            </a:r>
            <a:endParaRPr lang="vi-VN"/>
          </a:p>
        </p:txBody>
      </p:sp>
      <p:sp>
        <p:nvSpPr>
          <p:cNvPr id="72" name="Text 72"/>
          <p:cNvSpPr txBox="1"/>
          <p:nvPr/>
        </p:nvSpPr>
        <p:spPr>
          <a:xfrm>
            <a:off x="2633472" y="4837176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.714</a:t>
            </a:r>
            <a:endParaRPr lang="vi-VN"/>
          </a:p>
        </p:txBody>
      </p:sp>
      <p:sp>
        <p:nvSpPr>
          <p:cNvPr id="73" name="Text 73"/>
          <p:cNvSpPr txBox="1"/>
          <p:nvPr/>
        </p:nvSpPr>
        <p:spPr>
          <a:xfrm>
            <a:off x="3794760" y="4837176"/>
            <a:ext cx="111556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.639</a:t>
            </a:r>
            <a:endParaRPr lang="vi-VN"/>
          </a:p>
        </p:txBody>
      </p:sp>
      <p:sp>
        <p:nvSpPr>
          <p:cNvPr id="74" name="Text 74"/>
          <p:cNvSpPr txBox="1"/>
          <p:nvPr/>
        </p:nvSpPr>
        <p:spPr>
          <a:xfrm>
            <a:off x="5248656" y="4837176"/>
            <a:ext cx="122529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.476</a:t>
            </a:r>
            <a:endParaRPr lang="vi-VN"/>
          </a:p>
        </p:txBody>
      </p:sp>
      <p:sp>
        <p:nvSpPr>
          <p:cNvPr id="75" name="Text 75"/>
          <p:cNvSpPr txBox="1"/>
          <p:nvPr/>
        </p:nvSpPr>
        <p:spPr>
          <a:xfrm>
            <a:off x="6784848" y="4837176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.673</a:t>
            </a:r>
            <a:endParaRPr lang="vi-VN"/>
          </a:p>
        </p:txBody>
      </p:sp>
      <p:sp>
        <p:nvSpPr>
          <p:cNvPr id="76" name="Text 76"/>
          <p:cNvSpPr txBox="1"/>
          <p:nvPr/>
        </p:nvSpPr>
        <p:spPr>
          <a:xfrm>
            <a:off x="8412480" y="4837176"/>
            <a:ext cx="121615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1.0</a:t>
            </a:r>
            <a:endParaRPr lang="vi-VN"/>
          </a:p>
        </p:txBody>
      </p:sp>
      <p:sp>
        <p:nvSpPr>
          <p:cNvPr id="77" name="Text 77"/>
          <p:cNvSpPr txBox="1"/>
          <p:nvPr/>
        </p:nvSpPr>
        <p:spPr>
          <a:xfrm>
            <a:off x="10040112" y="4837176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>
                <a:solidFill>
                  <a:srgbClr val="17233B"/>
                </a:solidFill>
                <a:latin typeface="Aptos"/>
              </a:rPr>
              <a:t>52.9</a:t>
            </a:r>
            <a:endParaRPr lang="vi-VN"/>
          </a:p>
        </p:txBody>
      </p:sp>
      <p:sp>
        <p:nvSpPr>
          <p:cNvPr id="78" name="Text 78"/>
          <p:cNvSpPr txBox="1"/>
          <p:nvPr/>
        </p:nvSpPr>
        <p:spPr>
          <a:xfrm>
            <a:off x="640080" y="5294376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 b="1">
                <a:solidFill>
                  <a:srgbClr val="0F9E90"/>
                </a:solidFill>
                <a:latin typeface="Aptos"/>
              </a:rPr>
              <a:t>E8</a:t>
            </a:r>
            <a:endParaRPr lang="vi-VN"/>
          </a:p>
        </p:txBody>
      </p:sp>
      <p:sp>
        <p:nvSpPr>
          <p:cNvPr id="79" name="Text 79"/>
          <p:cNvSpPr txBox="1"/>
          <p:nvPr/>
        </p:nvSpPr>
        <p:spPr>
          <a:xfrm>
            <a:off x="1298448" y="5294376"/>
            <a:ext cx="103327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 b="1">
                <a:solidFill>
                  <a:srgbClr val="0F9E90"/>
                </a:solidFill>
                <a:latin typeface="Aptos"/>
              </a:rPr>
              <a:t>.250</a:t>
            </a:r>
            <a:endParaRPr lang="vi-VN"/>
          </a:p>
        </p:txBody>
      </p:sp>
      <p:sp>
        <p:nvSpPr>
          <p:cNvPr id="80" name="Text 80"/>
          <p:cNvSpPr txBox="1"/>
          <p:nvPr/>
        </p:nvSpPr>
        <p:spPr>
          <a:xfrm>
            <a:off x="2633472" y="5294376"/>
            <a:ext cx="8686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 b="1">
                <a:solidFill>
                  <a:srgbClr val="0F9E90"/>
                </a:solidFill>
                <a:latin typeface="Aptos"/>
              </a:rPr>
              <a:t>.929</a:t>
            </a:r>
            <a:endParaRPr lang="vi-VN"/>
          </a:p>
        </p:txBody>
      </p:sp>
      <p:sp>
        <p:nvSpPr>
          <p:cNvPr id="81" name="Text 81"/>
          <p:cNvSpPr txBox="1"/>
          <p:nvPr/>
        </p:nvSpPr>
        <p:spPr>
          <a:xfrm>
            <a:off x="3794760" y="5294376"/>
            <a:ext cx="1115568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 b="1">
                <a:solidFill>
                  <a:srgbClr val="0F9E90"/>
                </a:solidFill>
                <a:latin typeface="Aptos"/>
              </a:rPr>
              <a:t>.694</a:t>
            </a:r>
            <a:endParaRPr lang="vi-VN"/>
          </a:p>
        </p:txBody>
      </p:sp>
      <p:sp>
        <p:nvSpPr>
          <p:cNvPr id="82" name="Text 82"/>
          <p:cNvSpPr txBox="1"/>
          <p:nvPr/>
        </p:nvSpPr>
        <p:spPr>
          <a:xfrm>
            <a:off x="5248656" y="5294376"/>
            <a:ext cx="1225296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 b="1">
                <a:solidFill>
                  <a:srgbClr val="0F9E90"/>
                </a:solidFill>
                <a:latin typeface="Aptos"/>
              </a:rPr>
              <a:t>.603</a:t>
            </a:r>
            <a:endParaRPr lang="vi-VN"/>
          </a:p>
        </p:txBody>
      </p:sp>
      <p:sp>
        <p:nvSpPr>
          <p:cNvPr id="83" name="Text 83"/>
          <p:cNvSpPr txBox="1"/>
          <p:nvPr/>
        </p:nvSpPr>
        <p:spPr>
          <a:xfrm>
            <a:off x="6784848" y="5294376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 b="1">
                <a:solidFill>
                  <a:srgbClr val="0F9E90"/>
                </a:solidFill>
                <a:latin typeface="Aptos"/>
              </a:rPr>
              <a:t>.750</a:t>
            </a:r>
            <a:endParaRPr lang="vi-VN"/>
          </a:p>
        </p:txBody>
      </p:sp>
      <p:sp>
        <p:nvSpPr>
          <p:cNvPr id="84" name="Text 84"/>
          <p:cNvSpPr txBox="1"/>
          <p:nvPr/>
        </p:nvSpPr>
        <p:spPr>
          <a:xfrm>
            <a:off x="8412480" y="5294376"/>
            <a:ext cx="121615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 b="1">
                <a:solidFill>
                  <a:srgbClr val="0F9E90"/>
                </a:solidFill>
                <a:latin typeface="Aptos"/>
              </a:rPr>
              <a:t>1.0</a:t>
            </a:r>
            <a:endParaRPr lang="vi-VN"/>
          </a:p>
        </p:txBody>
      </p:sp>
      <p:sp>
        <p:nvSpPr>
          <p:cNvPr id="85" name="Text 85"/>
          <p:cNvSpPr txBox="1"/>
          <p:nvPr/>
        </p:nvSpPr>
        <p:spPr>
          <a:xfrm>
            <a:off x="10040112" y="5294376"/>
            <a:ext cx="1143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400" b="1">
                <a:solidFill>
                  <a:srgbClr val="0F9E90"/>
                </a:solidFill>
                <a:latin typeface="Aptos"/>
              </a:rPr>
              <a:t>54.5</a:t>
            </a:r>
            <a:endParaRPr lang="vi-VN"/>
          </a:p>
        </p:txBody>
      </p:sp>
      <p:sp>
        <p:nvSpPr>
          <p:cNvPr id="86" name="Text 86"/>
          <p:cNvSpPr txBox="1"/>
          <p:nvPr/>
        </p:nvSpPr>
        <p:spPr>
          <a:xfrm>
            <a:off x="658368" y="5925312"/>
            <a:ext cx="10789920" cy="3383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300">
                <a:solidFill>
                  <a:srgbClr val="596579"/>
                </a:solidFill>
                <a:latin typeface="Aptos"/>
              </a:rPr>
              <a:t>Faith = RAGAS multimodal binary · Visual CR = Visual Context Recall · Correct = Answer Correctness.</a:t>
            </a:r>
            <a:endParaRPr lang="vi-V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438912" y="219456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000" b="1">
                <a:solidFill>
                  <a:srgbClr val="0F9E90"/>
                </a:solidFill>
                <a:latin typeface="Aptos"/>
              </a:rPr>
              <a:t>KẾT LUẬN</a:t>
            </a:r>
            <a:endParaRPr lang="vi-VN"/>
          </a:p>
        </p:txBody>
      </p:sp>
      <p:sp>
        <p:nvSpPr>
          <p:cNvPr id="5" name="Text 5"/>
          <p:cNvSpPr txBox="1"/>
          <p:nvPr/>
        </p:nvSpPr>
        <p:spPr>
          <a:xfrm>
            <a:off x="438912" y="502920"/>
            <a:ext cx="11247120" cy="5760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2800" b="1">
                <a:solidFill>
                  <a:srgbClr val="17233B"/>
                </a:solidFill>
                <a:latin typeface="Aptos"/>
              </a:rPr>
              <a:t>Điều cần giữ và bước tiếp theo</a:t>
            </a:r>
            <a:endParaRPr lang="vi-VN"/>
          </a:p>
        </p:txBody>
      </p:sp>
      <p:sp>
        <p:nvSpPr>
          <p:cNvPr id="6" name="Shape 6"/>
          <p:cNvSpPr/>
          <p:nvPr/>
        </p:nvSpPr>
        <p:spPr>
          <a:xfrm>
            <a:off x="438912" y="1161288"/>
            <a:ext cx="11292840" cy="13716"/>
          </a:xfrm>
          <a:prstGeom prst="rect">
            <a:avLst/>
          </a:prstGeom>
          <a:solidFill>
            <a:srgbClr val="D8E2EF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448056" y="6574536"/>
            <a:ext cx="5943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800">
                <a:solidFill>
                  <a:srgbClr val="596579"/>
                </a:solidFill>
                <a:latin typeface="Aptos"/>
              </a:rPr>
              <a:t>VIDEO RAG  /  AIC 2025</a:t>
            </a:r>
            <a:endParaRPr lang="vi-VN"/>
          </a:p>
        </p:txBody>
      </p:sp>
      <p:sp>
        <p:nvSpPr>
          <p:cNvPr id="8" name="Text 8"/>
          <p:cNvSpPr txBox="1"/>
          <p:nvPr/>
        </p:nvSpPr>
        <p:spPr>
          <a:xfrm>
            <a:off x="11119104" y="652881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  <a:r>
              <a:rPr lang="vi-VN" sz="1000">
                <a:solidFill>
                  <a:srgbClr val="596579"/>
                </a:solidFill>
                <a:latin typeface="Aptos"/>
              </a:rPr>
              <a:t>24</a:t>
            </a:r>
            <a:endParaRPr lang="vi-VN"/>
          </a:p>
        </p:txBody>
      </p:sp>
      <p:sp>
        <p:nvSpPr>
          <p:cNvPr id="9" name="Shape 9"/>
          <p:cNvSpPr/>
          <p:nvPr/>
        </p:nvSpPr>
        <p:spPr>
          <a:xfrm>
            <a:off x="548640" y="1545336"/>
            <a:ext cx="5394960" cy="2240280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0" name="Shape 10"/>
          <p:cNvSpPr/>
          <p:nvPr/>
        </p:nvSpPr>
        <p:spPr>
          <a:xfrm>
            <a:off x="548640" y="1545336"/>
            <a:ext cx="50292" cy="2240280"/>
          </a:xfrm>
          <a:prstGeom prst="rect">
            <a:avLst/>
          </a:prstGeom>
          <a:solidFill>
            <a:srgbClr val="0F9E90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749808" y="1709928"/>
            <a:ext cx="501091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0F9E90"/>
                </a:solidFill>
                <a:latin typeface="Aptos"/>
              </a:rPr>
              <a:t>Giữ</a:t>
            </a:r>
            <a:endParaRPr lang="vi-VN"/>
          </a:p>
        </p:txBody>
      </p:sp>
      <p:sp>
        <p:nvSpPr>
          <p:cNvPr id="12" name="Text 12"/>
          <p:cNvSpPr txBox="1"/>
          <p:nvPr/>
        </p:nvSpPr>
        <p:spPr>
          <a:xfrm>
            <a:off x="749808" y="2167128"/>
            <a:ext cx="4983480" cy="1527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800">
                <a:solidFill>
                  <a:srgbClr val="17233B"/>
                </a:solidFill>
                <a:latin typeface="Aptos"/>
              </a:rPr>
              <a:t>Frame-level indexing; dense + BM25 + RRF; evidence guard; agent verify khi câu hỏi khó.</a:t>
            </a:r>
            <a:endParaRPr lang="vi-VN"/>
          </a:p>
        </p:txBody>
      </p:sp>
      <p:sp>
        <p:nvSpPr>
          <p:cNvPr id="13" name="Shape 13"/>
          <p:cNvSpPr/>
          <p:nvPr/>
        </p:nvSpPr>
        <p:spPr>
          <a:xfrm>
            <a:off x="6190488" y="1545336"/>
            <a:ext cx="5394960" cy="2240280"/>
          </a:xfrm>
          <a:prstGeom prst="roundRect">
            <a:avLst/>
          </a:prstGeom>
          <a:solidFill>
            <a:srgbClr val="F3F7FC"/>
          </a:solidFill>
          <a:ln w="10973">
            <a:solidFill>
              <a:srgbClr val="D8E2EF"/>
            </a:solidFill>
          </a:ln>
        </p:spPr>
      </p:sp>
      <p:sp>
        <p:nvSpPr>
          <p:cNvPr id="14" name="Shape 14"/>
          <p:cNvSpPr/>
          <p:nvPr/>
        </p:nvSpPr>
        <p:spPr>
          <a:xfrm>
            <a:off x="6190488" y="1545336"/>
            <a:ext cx="50292" cy="224028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6391656" y="1709928"/>
            <a:ext cx="5010912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700" b="1">
                <a:solidFill>
                  <a:srgbClr val="2563EB"/>
                </a:solidFill>
                <a:latin typeface="Aptos"/>
              </a:rPr>
              <a:t>Cải thiện</a:t>
            </a:r>
            <a:endParaRPr lang="vi-VN"/>
          </a:p>
        </p:txBody>
      </p:sp>
      <p:sp>
        <p:nvSpPr>
          <p:cNvPr id="16" name="Text 16"/>
          <p:cNvSpPr txBox="1"/>
          <p:nvPr/>
        </p:nvSpPr>
        <p:spPr>
          <a:xfrm>
            <a:off x="6391656" y="2167128"/>
            <a:ext cx="4983480" cy="152704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800">
                <a:solidFill>
                  <a:srgbClr val="17233B"/>
                </a:solidFill>
                <a:latin typeface="Aptos"/>
              </a:rPr>
              <a:t>Mở rộng benchmark &gt;300 QA; human audit; OCR chuyên biệt; chọn temporal evidence có kiểm soát.</a:t>
            </a:r>
            <a:endParaRPr lang="vi-VN"/>
          </a:p>
        </p:txBody>
      </p:sp>
      <p:sp>
        <p:nvSpPr>
          <p:cNvPr id="17" name="Text 17"/>
          <p:cNvSpPr txBox="1"/>
          <p:nvPr/>
        </p:nvSpPr>
        <p:spPr>
          <a:xfrm>
            <a:off x="594360" y="4590288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1600" b="1">
                <a:solidFill>
                  <a:srgbClr val="596579"/>
                </a:solidFill>
                <a:latin typeface="Aptos"/>
              </a:rPr>
              <a:t>Thông điệp chính</a:t>
            </a:r>
            <a:endParaRPr lang="vi-VN"/>
          </a:p>
        </p:txBody>
      </p:sp>
      <p:sp>
        <p:nvSpPr>
          <p:cNvPr id="18" name="Text 18"/>
          <p:cNvSpPr txBox="1"/>
          <p:nvPr/>
        </p:nvSpPr>
        <p:spPr>
          <a:xfrm>
            <a:off x="594360" y="5038344"/>
            <a:ext cx="1092708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vi-VN" sz="2300" b="1">
                <a:solidFill>
                  <a:srgbClr val="17233B"/>
                </a:solidFill>
                <a:latin typeface="Aptos"/>
              </a:rPr>
              <a:t>Retrieval tạo trần chất lượng; agent nâng chất lượng evidence bằng cách kiểm chứng frame.</a:t>
            </a:r>
            <a:endParaRPr lang="vi-V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 Video RAG">
  <a:themeElements>
    <a:clrScheme name="Video RAG">
      <a:dk1>
        <a:srgbClr val="000000"/>
      </a:dk1>
      <a:lt1>
        <a:srgbClr val="FFFFFF"/>
      </a:lt1>
      <a:dk2>
        <a:srgbClr val="17233B"/>
      </a:dk2>
      <a:lt2>
        <a:srgbClr val="F3F7FC"/>
      </a:lt2>
      <a:accent1>
        <a:srgbClr val="2563EB"/>
      </a:accent1>
      <a:accent2>
        <a:srgbClr val="0F9E90"/>
      </a:accent2>
      <a:accent3>
        <a:srgbClr val="D88A17"/>
      </a:accent3>
      <a:accent4>
        <a:srgbClr val="C24152"/>
      </a:accent4>
      <a:accent5>
        <a:srgbClr val="7C6EC6"/>
      </a:accent5>
      <a:accent6>
        <a:srgbClr val="5C829B"/>
      </a:accent6>
      <a:hlink>
        <a:srgbClr val="2563EB"/>
      </a:hlink>
      <a:folHlink>
        <a:srgbClr val="7C6EC6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Minimal">
      <a:fillStyleLst>
        <a:solidFill>
          <a:schemeClr val="accent1"/>
        </a:solidFill>
        <a:solidFill>
          <a:schemeClr val="accent2"/>
        </a:solidFill>
        <a:solidFill>
          <a:schemeClr val="lt1"/>
        </a:solidFill>
      </a:fillStyleLst>
      <a:lnStyleLst>
        <a:ln w="9525">
          <a:solidFill>
            <a:schemeClr val="accent1"/>
          </a:solidFill>
        </a:ln>
        <a:ln w="19050">
          <a:solidFill>
            <a:schemeClr val="accent2"/>
          </a:solidFill>
        </a:ln>
        <a:ln w="28575">
          <a:solidFill>
            <a:schemeClr val="dk2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accent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Video RAG đa phương thức — Eval, Ablation, Error Analysis</dc:title>
  <dc:creator>Video RAG team</dc:creator>
  <dcterms:created xsi:type="dcterms:W3CDTF">2026-10-29T11:59:42Z</dcterms:created>
</cp:coreProperties>
</file>